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57" r:id="rId4"/>
    <p:sldId id="258" r:id="rId5"/>
    <p:sldId id="259" r:id="rId6"/>
    <p:sldId id="260" r:id="rId7"/>
    <p:sldId id="264" r:id="rId8"/>
    <p:sldId id="265" r:id="rId9"/>
    <p:sldId id="261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BDF8"/>
    <a:srgbClr val="616161"/>
    <a:srgbClr val="22D3EE"/>
    <a:srgbClr val="080D1A"/>
    <a:srgbClr val="49CC90"/>
    <a:srgbClr val="3776AB"/>
    <a:srgbClr val="6366F1"/>
    <a:srgbClr val="F59E0B"/>
    <a:srgbClr val="50E3C2"/>
    <a:srgbClr val="FC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7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24.pn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7.png"/><Relationship Id="rId5" Type="http://schemas.openxmlformats.org/officeDocument/2006/relationships/image" Target="../media/image9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ermo.top/The-inventory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57200"/>
            <a:ext cx="5943600" cy="384048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70540" y="580644"/>
            <a:ext cx="3602919" cy="3931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1005840"/>
            <a:ext cx="4572000" cy="87782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737360"/>
            <a:ext cx="8046720" cy="128016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71600" y="31546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4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Microserviciu Full-Stack pentru gestionarea inventarului — </a:t>
            </a:r>
            <a:r>
              <a:rPr lang="en-US" sz="1300" dirty="0" err="1">
                <a:solidFill>
                  <a:srgbClr val="C4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produse</a:t>
            </a:r>
            <a:r>
              <a:rPr lang="en-US" sz="1300" dirty="0">
                <a:solidFill>
                  <a:srgbClr val="C4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depozite și furnizori.</a:t>
            </a:r>
            <a:endParaRPr lang="en-US" sz="1300" dirty="0"/>
          </a:p>
        </p:txBody>
      </p:sp>
      <p:sp>
        <p:nvSpPr>
          <p:cNvPr id="7" name="Text 1"/>
          <p:cNvSpPr/>
          <p:nvPr/>
        </p:nvSpPr>
        <p:spPr>
          <a:xfrm>
            <a:off x="1371600" y="3703320"/>
            <a:ext cx="6560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Strugariu Filip-Daniel</a:t>
            </a:r>
            <a:r>
              <a:rPr lang="en-US" sz="13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</a:t>
            </a:r>
            <a:r>
              <a:rPr lang="ro-RO" sz="13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FIESC AN 1</a:t>
            </a:r>
            <a:r>
              <a:rPr lang="en-US" sz="13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ro-RO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Calculatoare Dual 3111Da</a:t>
            </a:r>
            <a:endParaRPr lang="en-US" sz="1300" dirty="0"/>
          </a:p>
        </p:txBody>
      </p:sp>
      <p:sp>
        <p:nvSpPr>
          <p:cNvPr id="8" name="Text 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Strugariu Filip-Daniel  ·  ASSIST Learning  ·  2026</a:t>
            </a:r>
            <a:endParaRPr lang="en-US" sz="9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031799-C80C-F89F-DBF3-F8B4EA76C040}"/>
              </a:ext>
            </a:extLst>
          </p:cNvPr>
          <p:cNvSpPr/>
          <p:nvPr/>
        </p:nvSpPr>
        <p:spPr>
          <a:xfrm>
            <a:off x="468630" y="989456"/>
            <a:ext cx="8275320" cy="385953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96E51CA-485C-F418-7783-B8E6A4ADE260}"/>
              </a:ext>
            </a:extLst>
          </p:cNvPr>
          <p:cNvSpPr/>
          <p:nvPr/>
        </p:nvSpPr>
        <p:spPr>
          <a:xfrm>
            <a:off x="411480" y="989457"/>
            <a:ext cx="114300" cy="385953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D0CCCA5-EB4C-5A83-88AC-79842100D542}"/>
              </a:ext>
            </a:extLst>
          </p:cNvPr>
          <p:cNvSpPr/>
          <p:nvPr/>
        </p:nvSpPr>
        <p:spPr>
          <a:xfrm>
            <a:off x="582930" y="1014459"/>
            <a:ext cx="7932420" cy="1968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o-RO" sz="16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MOTIVAȚIE</a:t>
            </a:r>
            <a:r>
              <a:rPr lang="en-GB" sz="16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ro-RO" sz="1600" b="1" kern="0" spc="300" dirty="0">
              <a:solidFill>
                <a:srgbClr val="22D3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600" b="1" dirty="0">
              <a:solidFill>
                <a:srgbClr val="C4CD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ales </a:t>
            </a:r>
            <a:r>
              <a:rPr lang="en-GB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aceas</a:t>
            </a:r>
            <a:r>
              <a:rPr lang="ro-RO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</a:t>
            </a:r>
            <a:r>
              <a:rPr lang="ro-RO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temă pentru a învăța cum se gestionează o bază de date reală prin intermediul unui </a:t>
            </a:r>
            <a:r>
              <a:rPr lang="ro-RO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ro-RO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și pentru a înțelege cum se dezvoltă o aplicație </a:t>
            </a:r>
            <a:r>
              <a:rPr lang="ro-RO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</a:t>
            </a:r>
            <a:r>
              <a:rPr lang="ro-RO" sz="1400" b="1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r>
              <a:rPr lang="ro-RO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 cu pas.</a:t>
            </a:r>
            <a:endParaRPr lang="en-GB" sz="1400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ro-RO" sz="1400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Inventory 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o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aplicație</a:t>
            </a: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Full-Stack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construită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pentru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optimizarea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fluxurilor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depozit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monitorizarea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stocurilor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în timp real,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gestionarea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relațiilor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furnizorii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și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transferul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marfă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locații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A47540A-E9E3-BEF6-2503-753CBA751223}"/>
              </a:ext>
            </a:extLst>
          </p:cNvPr>
          <p:cNvSpPr/>
          <p:nvPr/>
        </p:nvSpPr>
        <p:spPr>
          <a:xfrm>
            <a:off x="4674871" y="3102388"/>
            <a:ext cx="3840479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26ECC3B-1B5B-B422-98C1-016D0E9E18F3}"/>
              </a:ext>
            </a:extLst>
          </p:cNvPr>
          <p:cNvSpPr/>
          <p:nvPr/>
        </p:nvSpPr>
        <p:spPr>
          <a:xfrm>
            <a:off x="4926330" y="3166157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65814A7-5CF9-783C-DBCA-C5210E3895AB}"/>
              </a:ext>
            </a:extLst>
          </p:cNvPr>
          <p:cNvSpPr/>
          <p:nvPr/>
        </p:nvSpPr>
        <p:spPr>
          <a:xfrm>
            <a:off x="4834890" y="348157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</a:t>
            </a:r>
            <a:endParaRPr lang="en-US" sz="11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9C39FCCA-286B-AAE4-E4B7-1D3EBA74561E}"/>
              </a:ext>
            </a:extLst>
          </p:cNvPr>
          <p:cNvSpPr/>
          <p:nvPr/>
        </p:nvSpPr>
        <p:spPr>
          <a:xfrm>
            <a:off x="640080" y="3103912"/>
            <a:ext cx="3840480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843F429-4719-7FE4-D6D2-AE4692E5EAFA}"/>
              </a:ext>
            </a:extLst>
          </p:cNvPr>
          <p:cNvSpPr/>
          <p:nvPr/>
        </p:nvSpPr>
        <p:spPr>
          <a:xfrm>
            <a:off x="640080" y="3170682"/>
            <a:ext cx="216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</a:t>
            </a:r>
            <a:endParaRPr lang="en-US" sz="2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EC50D3D-4359-2FED-03E3-50B0F60F3CEF}"/>
              </a:ext>
            </a:extLst>
          </p:cNvPr>
          <p:cNvSpPr/>
          <p:nvPr/>
        </p:nvSpPr>
        <p:spPr>
          <a:xfrm>
            <a:off x="640080" y="348157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 completă</a:t>
            </a:r>
            <a:endParaRPr lang="en-US" sz="11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6E3B2040-14C0-5445-EC75-AA59EF43466F}"/>
              </a:ext>
            </a:extLst>
          </p:cNvPr>
          <p:cNvSpPr/>
          <p:nvPr/>
        </p:nvSpPr>
        <p:spPr>
          <a:xfrm>
            <a:off x="640080" y="3907536"/>
            <a:ext cx="3840480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F4FD8EA-1E8A-F2B6-0686-D29812B84FCD}"/>
              </a:ext>
            </a:extLst>
          </p:cNvPr>
          <p:cNvSpPr/>
          <p:nvPr/>
        </p:nvSpPr>
        <p:spPr>
          <a:xfrm>
            <a:off x="640080" y="394792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2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D75DD07-3100-03ED-09E7-CF7FCF00BF9D}"/>
              </a:ext>
            </a:extLst>
          </p:cNvPr>
          <p:cNvSpPr/>
          <p:nvPr/>
        </p:nvSpPr>
        <p:spPr>
          <a:xfrm>
            <a:off x="640080" y="425881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în producție</a:t>
            </a:r>
            <a:endParaRPr lang="en-US" sz="11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6E906C83-605B-FE8F-1651-7707C6618E2B}"/>
              </a:ext>
            </a:extLst>
          </p:cNvPr>
          <p:cNvSpPr/>
          <p:nvPr/>
        </p:nvSpPr>
        <p:spPr>
          <a:xfrm>
            <a:off x="4663439" y="3899677"/>
            <a:ext cx="3840480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46FD6ED-C5D9-CB93-E1A7-F6AC4585EFDB}"/>
              </a:ext>
            </a:extLst>
          </p:cNvPr>
          <p:cNvSpPr/>
          <p:nvPr/>
        </p:nvSpPr>
        <p:spPr>
          <a:xfrm>
            <a:off x="4926330" y="397040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</a:rPr>
              <a:t>3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CB183417-AAF0-F584-541B-526D0C32EBAA}"/>
              </a:ext>
            </a:extLst>
          </p:cNvPr>
          <p:cNvSpPr/>
          <p:nvPr/>
        </p:nvSpPr>
        <p:spPr>
          <a:xfrm>
            <a:off x="4834890" y="429539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Tabele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relaționale</a:t>
            </a:r>
            <a:endParaRPr lang="en-US" sz="1100" dirty="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665A987C-2A89-1459-7A1C-CB4B1D5CA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35" y="78793"/>
            <a:ext cx="7867650" cy="87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18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2"/>
          <p:cNvSpPr/>
          <p:nvPr/>
        </p:nvSpPr>
        <p:spPr>
          <a:xfrm>
            <a:off x="4802632" y="1182671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 dirty="0">
              <a:solidFill>
                <a:srgbClr val="22D3EE"/>
              </a:solidFill>
            </a:endParaRPr>
          </a:p>
        </p:txBody>
      </p:sp>
      <p:pic>
        <p:nvPicPr>
          <p:cNvPr id="17" name="Image 2"/>
          <p:cNvPicPr>
            <a:picLocks noChangeAspect="1"/>
          </p:cNvPicPr>
          <p:nvPr/>
        </p:nvPicPr>
        <p:blipFill>
          <a:blip r:embed="rId3"/>
          <a:srcRect l="1535" r="1535"/>
          <a:stretch/>
        </p:blipFill>
        <p:spPr>
          <a:xfrm>
            <a:off x="4939284" y="1422082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5574792" y="1204341"/>
            <a:ext cx="1005840" cy="80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1" name="Text 15"/>
          <p:cNvSpPr/>
          <p:nvPr/>
        </p:nvSpPr>
        <p:spPr>
          <a:xfrm>
            <a:off x="5454142" y="1267206"/>
            <a:ext cx="11831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792980" y="2364486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>
              <a:solidFill>
                <a:srgbClr val="22D3EE"/>
              </a:solidFill>
            </a:endParaRPr>
          </a:p>
        </p:txBody>
      </p:sp>
      <p:sp>
        <p:nvSpPr>
          <p:cNvPr id="24" name="Text 17"/>
          <p:cNvSpPr/>
          <p:nvPr/>
        </p:nvSpPr>
        <p:spPr>
          <a:xfrm>
            <a:off x="5542788" y="2437638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7" name="Text 19"/>
          <p:cNvSpPr/>
          <p:nvPr/>
        </p:nvSpPr>
        <p:spPr>
          <a:xfrm>
            <a:off x="5514340" y="2455926"/>
            <a:ext cx="1005840" cy="760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8" name="Shape 20"/>
          <p:cNvSpPr/>
          <p:nvPr/>
        </p:nvSpPr>
        <p:spPr>
          <a:xfrm>
            <a:off x="4792980" y="3534918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9" name="Image 6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9284" y="3759708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30" name="Text 21"/>
          <p:cNvSpPr/>
          <p:nvPr/>
        </p:nvSpPr>
        <p:spPr>
          <a:xfrm>
            <a:off x="5542788" y="3608070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o-RO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DA7B5ADE-AF9A-4A2E-ACB1-61D6B2191C92}"/>
              </a:ext>
            </a:extLst>
          </p:cNvPr>
          <p:cNvSpPr/>
          <p:nvPr/>
        </p:nvSpPr>
        <p:spPr>
          <a:xfrm>
            <a:off x="584200" y="1194054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53" name="Image 2">
            <a:extLst>
              <a:ext uri="{FF2B5EF4-FFF2-40B4-BE49-F238E27FC236}">
                <a16:creationId xmlns:a16="http://schemas.microsoft.com/office/drawing/2014/main" id="{44381AB1-4526-87FC-A352-46FBA1200B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333" r="25333"/>
          <a:stretch/>
        </p:blipFill>
        <p:spPr>
          <a:xfrm>
            <a:off x="721360" y="1456563"/>
            <a:ext cx="571500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E864F4BF-F179-6C4E-7ED2-16F780ED8AA2}"/>
              </a:ext>
            </a:extLst>
          </p:cNvPr>
          <p:cNvSpPr/>
          <p:nvPr/>
        </p:nvSpPr>
        <p:spPr>
          <a:xfrm>
            <a:off x="1291844" y="1286637"/>
            <a:ext cx="1005840" cy="80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55" name="Shape 14">
            <a:extLst>
              <a:ext uri="{FF2B5EF4-FFF2-40B4-BE49-F238E27FC236}">
                <a16:creationId xmlns:a16="http://schemas.microsoft.com/office/drawing/2014/main" id="{67C5887B-9BF7-EFC3-E976-E42F905C5FA8}"/>
              </a:ext>
            </a:extLst>
          </p:cNvPr>
          <p:cNvSpPr/>
          <p:nvPr/>
        </p:nvSpPr>
        <p:spPr>
          <a:xfrm>
            <a:off x="2716657" y="1179407"/>
            <a:ext cx="1828800" cy="1016677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56" name="Image 3">
            <a:extLst>
              <a:ext uri="{FF2B5EF4-FFF2-40B4-BE49-F238E27FC236}">
                <a16:creationId xmlns:a16="http://schemas.microsoft.com/office/drawing/2014/main" id="{49934891-9B4B-0F03-B02A-E5C8E235F58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862961" y="1411401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57" name="Text 15">
            <a:extLst>
              <a:ext uri="{FF2B5EF4-FFF2-40B4-BE49-F238E27FC236}">
                <a16:creationId xmlns:a16="http://schemas.microsoft.com/office/drawing/2014/main" id="{FA471C3F-5410-D599-A5B2-08B8EDFED89F}"/>
              </a:ext>
            </a:extLst>
          </p:cNvPr>
          <p:cNvSpPr/>
          <p:nvPr/>
        </p:nvSpPr>
        <p:spPr>
          <a:xfrm>
            <a:off x="3533521" y="1252683"/>
            <a:ext cx="1005840" cy="8660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58" name="Shape 16">
            <a:extLst>
              <a:ext uri="{FF2B5EF4-FFF2-40B4-BE49-F238E27FC236}">
                <a16:creationId xmlns:a16="http://schemas.microsoft.com/office/drawing/2014/main" id="{932F51A0-3A06-D557-1BD9-E4CC5E8C7033}"/>
              </a:ext>
            </a:extLst>
          </p:cNvPr>
          <p:cNvSpPr/>
          <p:nvPr/>
        </p:nvSpPr>
        <p:spPr>
          <a:xfrm>
            <a:off x="584200" y="2364486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1797FDAC-C484-F735-1443-0D80E0905ECD}"/>
              </a:ext>
            </a:extLst>
          </p:cNvPr>
          <p:cNvSpPr/>
          <p:nvPr/>
        </p:nvSpPr>
        <p:spPr>
          <a:xfrm>
            <a:off x="1292860" y="2397252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Alchemy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8B38CEEA-C18D-E9E7-2BDC-D7D8CF7247E1}"/>
              </a:ext>
            </a:extLst>
          </p:cNvPr>
          <p:cNvSpPr/>
          <p:nvPr/>
        </p:nvSpPr>
        <p:spPr>
          <a:xfrm>
            <a:off x="2716657" y="2331551"/>
            <a:ext cx="1828800" cy="1016677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7E279F1A-B84E-5FFC-E8E8-54B7D81429E1}"/>
              </a:ext>
            </a:extLst>
          </p:cNvPr>
          <p:cNvSpPr/>
          <p:nvPr/>
        </p:nvSpPr>
        <p:spPr>
          <a:xfrm>
            <a:off x="3461893" y="2412940"/>
            <a:ext cx="1010412" cy="862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48" name="Shape 20">
            <a:extLst>
              <a:ext uri="{FF2B5EF4-FFF2-40B4-BE49-F238E27FC236}">
                <a16:creationId xmlns:a16="http://schemas.microsoft.com/office/drawing/2014/main" id="{5AF990CB-A249-6493-7A6E-C5E91DE521CE}"/>
              </a:ext>
            </a:extLst>
          </p:cNvPr>
          <p:cNvSpPr/>
          <p:nvPr/>
        </p:nvSpPr>
        <p:spPr>
          <a:xfrm>
            <a:off x="598678" y="3534918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049" name="Image 6">
            <a:extLst>
              <a:ext uri="{FF2B5EF4-FFF2-40B4-BE49-F238E27FC236}">
                <a16:creationId xmlns:a16="http://schemas.microsoft.com/office/drawing/2014/main" id="{BDFB372E-8A28-BAF1-1566-943C3A3E7FA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21360" y="3759708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051" name="Text 21">
            <a:extLst>
              <a:ext uri="{FF2B5EF4-FFF2-40B4-BE49-F238E27FC236}">
                <a16:creationId xmlns:a16="http://schemas.microsoft.com/office/drawing/2014/main" id="{AAA863F1-0D91-4988-C94A-729DDAA0BAE1}"/>
              </a:ext>
            </a:extLst>
          </p:cNvPr>
          <p:cNvSpPr/>
          <p:nvPr/>
        </p:nvSpPr>
        <p:spPr>
          <a:xfrm>
            <a:off x="1291844" y="3750564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</a:t>
            </a:r>
            <a:r>
              <a:rPr lang="ro-RO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53" name="Shape 22">
            <a:extLst>
              <a:ext uri="{FF2B5EF4-FFF2-40B4-BE49-F238E27FC236}">
                <a16:creationId xmlns:a16="http://schemas.microsoft.com/office/drawing/2014/main" id="{BFC7F6A8-EABB-D56E-20B2-64CF87AF363F}"/>
              </a:ext>
            </a:extLst>
          </p:cNvPr>
          <p:cNvSpPr/>
          <p:nvPr/>
        </p:nvSpPr>
        <p:spPr>
          <a:xfrm>
            <a:off x="2695829" y="3505793"/>
            <a:ext cx="1828800" cy="1016677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055" name="Image 7">
            <a:extLst>
              <a:ext uri="{FF2B5EF4-FFF2-40B4-BE49-F238E27FC236}">
                <a16:creationId xmlns:a16="http://schemas.microsoft.com/office/drawing/2014/main" id="{9333A8F7-A857-4B02-C52E-97FB17F15AC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862961" y="3744067"/>
            <a:ext cx="530352" cy="54599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056" name="Text 23">
            <a:extLst>
              <a:ext uri="{FF2B5EF4-FFF2-40B4-BE49-F238E27FC236}">
                <a16:creationId xmlns:a16="http://schemas.microsoft.com/office/drawing/2014/main" id="{B7CEFF24-53D6-BC4C-00F3-819D0D79E711}"/>
              </a:ext>
            </a:extLst>
          </p:cNvPr>
          <p:cNvSpPr/>
          <p:nvPr/>
        </p:nvSpPr>
        <p:spPr>
          <a:xfrm>
            <a:off x="3466465" y="3579450"/>
            <a:ext cx="1005840" cy="8660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600" dirty="0">
              <a:solidFill>
                <a:srgbClr val="22D3EE"/>
              </a:solidFill>
            </a:endParaRPr>
          </a:p>
        </p:txBody>
      </p:sp>
      <p:pic>
        <p:nvPicPr>
          <p:cNvPr id="2062" name="Image 4">
            <a:extLst>
              <a:ext uri="{FF2B5EF4-FFF2-40B4-BE49-F238E27FC236}">
                <a16:creationId xmlns:a16="http://schemas.microsoft.com/office/drawing/2014/main" id="{AC165639-947E-F0ED-52AE-67208EE3F55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907280" y="2570988"/>
            <a:ext cx="521208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066" name="Shape 12">
            <a:extLst>
              <a:ext uri="{FF2B5EF4-FFF2-40B4-BE49-F238E27FC236}">
                <a16:creationId xmlns:a16="http://schemas.microsoft.com/office/drawing/2014/main" id="{E069FB6F-78CA-A0CF-3A6B-9EC9DC418023}"/>
              </a:ext>
            </a:extLst>
          </p:cNvPr>
          <p:cNvSpPr/>
          <p:nvPr/>
        </p:nvSpPr>
        <p:spPr>
          <a:xfrm>
            <a:off x="6906133" y="1190244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 dirty="0">
              <a:solidFill>
                <a:srgbClr val="22D3EE"/>
              </a:solidFill>
            </a:endParaRPr>
          </a:p>
        </p:txBody>
      </p:sp>
      <p:sp>
        <p:nvSpPr>
          <p:cNvPr id="2068" name="Text 13">
            <a:extLst>
              <a:ext uri="{FF2B5EF4-FFF2-40B4-BE49-F238E27FC236}">
                <a16:creationId xmlns:a16="http://schemas.microsoft.com/office/drawing/2014/main" id="{C82241CC-74A1-6044-E75E-69A944A428F6}"/>
              </a:ext>
            </a:extLst>
          </p:cNvPr>
          <p:cNvSpPr/>
          <p:nvPr/>
        </p:nvSpPr>
        <p:spPr>
          <a:xfrm>
            <a:off x="7678293" y="1211914"/>
            <a:ext cx="1005840" cy="80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69" name="Text 15">
            <a:extLst>
              <a:ext uri="{FF2B5EF4-FFF2-40B4-BE49-F238E27FC236}">
                <a16:creationId xmlns:a16="http://schemas.microsoft.com/office/drawing/2014/main" id="{617C5D30-96E3-82DE-DF1F-5AE0D3844920}"/>
              </a:ext>
            </a:extLst>
          </p:cNvPr>
          <p:cNvSpPr/>
          <p:nvPr/>
        </p:nvSpPr>
        <p:spPr>
          <a:xfrm>
            <a:off x="7557643" y="1274779"/>
            <a:ext cx="11831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70" name="Shape 16">
            <a:extLst>
              <a:ext uri="{FF2B5EF4-FFF2-40B4-BE49-F238E27FC236}">
                <a16:creationId xmlns:a16="http://schemas.microsoft.com/office/drawing/2014/main" id="{53807BE9-CEB5-E573-1BD3-E12B34A845AF}"/>
              </a:ext>
            </a:extLst>
          </p:cNvPr>
          <p:cNvSpPr/>
          <p:nvPr/>
        </p:nvSpPr>
        <p:spPr>
          <a:xfrm>
            <a:off x="6896481" y="2372059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>
              <a:solidFill>
                <a:srgbClr val="22D3EE"/>
              </a:solidFill>
            </a:endParaRPr>
          </a:p>
        </p:txBody>
      </p:sp>
      <p:sp>
        <p:nvSpPr>
          <p:cNvPr id="2071" name="Text 17">
            <a:extLst>
              <a:ext uri="{FF2B5EF4-FFF2-40B4-BE49-F238E27FC236}">
                <a16:creationId xmlns:a16="http://schemas.microsoft.com/office/drawing/2014/main" id="{1A951CCA-4C52-5FF7-0A7E-623E9564DCB6}"/>
              </a:ext>
            </a:extLst>
          </p:cNvPr>
          <p:cNvSpPr/>
          <p:nvPr/>
        </p:nvSpPr>
        <p:spPr>
          <a:xfrm>
            <a:off x="7646289" y="2445211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72" name="Text 19">
            <a:extLst>
              <a:ext uri="{FF2B5EF4-FFF2-40B4-BE49-F238E27FC236}">
                <a16:creationId xmlns:a16="http://schemas.microsoft.com/office/drawing/2014/main" id="{A6F73C39-7EA7-70E2-5169-4ED8A06EE290}"/>
              </a:ext>
            </a:extLst>
          </p:cNvPr>
          <p:cNvSpPr/>
          <p:nvPr/>
        </p:nvSpPr>
        <p:spPr>
          <a:xfrm>
            <a:off x="7617841" y="2463499"/>
            <a:ext cx="1005840" cy="760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73" name="Shape 20">
            <a:extLst>
              <a:ext uri="{FF2B5EF4-FFF2-40B4-BE49-F238E27FC236}">
                <a16:creationId xmlns:a16="http://schemas.microsoft.com/office/drawing/2014/main" id="{85D8D88C-E26B-5017-E0FB-ACF898D16D14}"/>
              </a:ext>
            </a:extLst>
          </p:cNvPr>
          <p:cNvSpPr/>
          <p:nvPr/>
        </p:nvSpPr>
        <p:spPr>
          <a:xfrm>
            <a:off x="6896481" y="3542491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075" name="Text 21">
            <a:extLst>
              <a:ext uri="{FF2B5EF4-FFF2-40B4-BE49-F238E27FC236}">
                <a16:creationId xmlns:a16="http://schemas.microsoft.com/office/drawing/2014/main" id="{1E70DD2C-D394-4B8C-ACA9-1B6876AEBABA}"/>
              </a:ext>
            </a:extLst>
          </p:cNvPr>
          <p:cNvSpPr/>
          <p:nvPr/>
        </p:nvSpPr>
        <p:spPr>
          <a:xfrm>
            <a:off x="7646289" y="3615643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D3EE"/>
                </a:solidFill>
              </a:rPr>
              <a:t>Hostinger</a:t>
            </a:r>
            <a:endParaRPr lang="en-US" sz="1600" b="1" dirty="0">
              <a:solidFill>
                <a:srgbClr val="22D3EE"/>
              </a:solidFill>
            </a:endParaRPr>
          </a:p>
        </p:txBody>
      </p:sp>
      <p:pic>
        <p:nvPicPr>
          <p:cNvPr id="2079" name="Image 6">
            <a:extLst>
              <a:ext uri="{FF2B5EF4-FFF2-40B4-BE49-F238E27FC236}">
                <a16:creationId xmlns:a16="http://schemas.microsoft.com/office/drawing/2014/main" id="{673D1671-0D80-5CBF-C11E-C64D2C7FFE7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023608" y="1430227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84" name="Image 6">
            <a:extLst>
              <a:ext uri="{FF2B5EF4-FFF2-40B4-BE49-F238E27FC236}">
                <a16:creationId xmlns:a16="http://schemas.microsoft.com/office/drawing/2014/main" id="{64721457-E435-86DA-4E2E-8944F25D29F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862961" y="2593043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85" name="Image 3">
            <a:extLst>
              <a:ext uri="{FF2B5EF4-FFF2-40B4-BE49-F238E27FC236}">
                <a16:creationId xmlns:a16="http://schemas.microsoft.com/office/drawing/2014/main" id="{6C468462-F89D-6672-BA84-921A988F90B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61" r="661"/>
          <a:stretch/>
        </p:blipFill>
        <p:spPr>
          <a:xfrm>
            <a:off x="719582" y="2589488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61" name="Image 3">
            <a:extLst>
              <a:ext uri="{FF2B5EF4-FFF2-40B4-BE49-F238E27FC236}">
                <a16:creationId xmlns:a16="http://schemas.microsoft.com/office/drawing/2014/main" id="{A70907F6-76B3-6B37-B0E3-590E751CBD4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041896" y="3796284"/>
            <a:ext cx="493776" cy="4937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63" name="Image 2">
            <a:extLst>
              <a:ext uri="{FF2B5EF4-FFF2-40B4-BE49-F238E27FC236}">
                <a16:creationId xmlns:a16="http://schemas.microsoft.com/office/drawing/2014/main" id="{680438E4-E54C-6334-E6C7-C031E5E9070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041896" y="2589488"/>
            <a:ext cx="493776" cy="50833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86" name="Image 0" descr="preencoded.png">
            <a:extLst>
              <a:ext uri="{FF2B5EF4-FFF2-40B4-BE49-F238E27FC236}">
                <a16:creationId xmlns:a16="http://schemas.microsoft.com/office/drawing/2014/main" id="{832BC3BD-3FED-C898-E57D-AE2D27477D5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6094" y="132254"/>
            <a:ext cx="82296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822960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399" y="9692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MAPAREA SCHEMELOR </a:t>
            </a:r>
            <a:r>
              <a:rPr lang="ro-RO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ȘI LOGICA RELAȚIONALĂ</a:t>
            </a:r>
            <a:endParaRPr lang="en-US" sz="1000" b="1" dirty="0"/>
          </a:p>
        </p:txBody>
      </p:sp>
      <p:pic>
        <p:nvPicPr>
          <p:cNvPr id="58" name="Imagine 57">
            <a:extLst>
              <a:ext uri="{FF2B5EF4-FFF2-40B4-BE49-F238E27FC236}">
                <a16:creationId xmlns:a16="http://schemas.microsoft.com/office/drawing/2014/main" id="{C03FC026-2286-61AA-F706-208082BDF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" y="1225296"/>
            <a:ext cx="8361273" cy="35359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9692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Documentație automată via OpenAPI (Swagger) · Accesibilă la /docs</a:t>
            </a:r>
            <a:endParaRPr lang="en-US" sz="1200" b="1" dirty="0"/>
          </a:p>
        </p:txBody>
      </p:sp>
      <p:sp>
        <p:nvSpPr>
          <p:cNvPr id="4" name="Shape 1"/>
          <p:cNvSpPr/>
          <p:nvPr/>
        </p:nvSpPr>
        <p:spPr>
          <a:xfrm>
            <a:off x="320040" y="1353312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320040" y="1353312"/>
            <a:ext cx="54864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1208" y="14813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1208" y="18836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Gestiunea catalogului de </a:t>
            </a:r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produse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SKU, denumire, preț, stoc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4536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61AF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2335530"/>
            <a:ext cx="643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A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61AFFE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1392840" y="2332482"/>
            <a:ext cx="5992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92840" y="2332482"/>
            <a:ext cx="599256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3717540" y="233248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FCA1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17540" y="2332482"/>
            <a:ext cx="612000" cy="347472"/>
          </a:xfrm>
          <a:prstGeom prst="rect">
            <a:avLst/>
          </a:prstGeom>
          <a:noFill/>
          <a:ln>
            <a:solidFill>
              <a:srgbClr val="FCA13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962836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62836" y="2335530"/>
            <a:ext cx="61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1353312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1353312"/>
            <a:ext cx="54864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56048" y="14813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/warehouses</a:t>
            </a:r>
            <a:endParaRPr lang="en-US" sz="1800" dirty="0">
              <a:solidFill>
                <a:srgbClr val="F59E0B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4956048" y="18836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Administrarea </a:t>
            </a:r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depozitelor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locație și capacitate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1564" y="3108960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0040" y="3108960"/>
            <a:ext cx="54864" cy="15727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21208" y="3236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/suppliers</a:t>
            </a:r>
            <a:endParaRPr lang="en-US" sz="1800" dirty="0">
              <a:solidFill>
                <a:srgbClr val="22D3EE"/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521208" y="3639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de date a </a:t>
            </a:r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furnizorilor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contact și detalii comerciale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754880" y="3108960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754880" y="3108960"/>
            <a:ext cx="54864" cy="15727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956048" y="3236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ro-RO" b="1" dirty="0" err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1800" dirty="0">
              <a:solidFill>
                <a:srgbClr val="6366F1"/>
              </a:solidFill>
            </a:endParaRPr>
          </a:p>
        </p:txBody>
      </p:sp>
      <p:sp>
        <p:nvSpPr>
          <p:cNvPr id="43" name="Text 40"/>
          <p:cNvSpPr/>
          <p:nvPr/>
        </p:nvSpPr>
        <p:spPr>
          <a:xfrm>
            <a:off x="4956048" y="3639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r>
              <a:rPr lang="ro-RO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și </a:t>
            </a:r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ajustare</a:t>
            </a:r>
            <a:r>
              <a:rPr lang="ro-RO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cantității produselor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956048" y="4114800"/>
            <a:ext cx="8229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956048" y="41148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22D3EE"/>
              </a:solidFill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943600" y="4114800"/>
            <a:ext cx="8229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43600" y="4114800"/>
            <a:ext cx="822960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49" name="Text 46"/>
          <p:cNvSpPr/>
          <p:nvPr/>
        </p:nvSpPr>
        <p:spPr>
          <a:xfrm>
            <a:off x="6931152" y="41148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E3A2490C-0DCB-FB56-E95E-A2F30514B011}"/>
              </a:ext>
            </a:extLst>
          </p:cNvPr>
          <p:cNvSpPr/>
          <p:nvPr/>
        </p:nvSpPr>
        <p:spPr>
          <a:xfrm>
            <a:off x="2171466" y="233248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0E3C2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50E3C2"/>
              </a:solidFill>
            </a:endParaRPr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FFC84D5E-DFFC-12F4-D5EC-227D6924878E}"/>
              </a:ext>
            </a:extLst>
          </p:cNvPr>
          <p:cNvSpPr/>
          <p:nvPr/>
        </p:nvSpPr>
        <p:spPr>
          <a:xfrm>
            <a:off x="2171466" y="2335530"/>
            <a:ext cx="612000" cy="347472"/>
          </a:xfrm>
          <a:prstGeom prst="rect">
            <a:avLst/>
          </a:prstGeom>
          <a:noFill/>
          <a:ln>
            <a:solidFill>
              <a:srgbClr val="50E3C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50E3C2"/>
                </a:solidFill>
                <a:latin typeface="Consolas" pitchFamily="34" charset="0"/>
              </a:rPr>
              <a:t>PATCH</a:t>
            </a:r>
            <a:endParaRPr lang="en-US" sz="950" dirty="0">
              <a:solidFill>
                <a:srgbClr val="50E3C2"/>
              </a:solidFill>
            </a:endParaRPr>
          </a:p>
        </p:txBody>
      </p:sp>
      <p:sp>
        <p:nvSpPr>
          <p:cNvPr id="52" name="Shape 5">
            <a:extLst>
              <a:ext uri="{FF2B5EF4-FFF2-40B4-BE49-F238E27FC236}">
                <a16:creationId xmlns:a16="http://schemas.microsoft.com/office/drawing/2014/main" id="{DACB1EB9-4767-35A9-B65D-A9C8033AAA9D}"/>
              </a:ext>
            </a:extLst>
          </p:cNvPr>
          <p:cNvSpPr/>
          <p:nvPr/>
        </p:nvSpPr>
        <p:spPr>
          <a:xfrm>
            <a:off x="4987080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FAE4DFC4-ACBD-9F95-4E40-2D5F1F01E2A2}"/>
              </a:ext>
            </a:extLst>
          </p:cNvPr>
          <p:cNvSpPr/>
          <p:nvPr/>
        </p:nvSpPr>
        <p:spPr>
          <a:xfrm>
            <a:off x="4956048" y="2335530"/>
            <a:ext cx="643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A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61AFFE"/>
              </a:solidFill>
            </a:endParaRPr>
          </a:p>
        </p:txBody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E8AFCB9B-7B61-14A5-F503-B10CB4562D33}"/>
              </a:ext>
            </a:extLst>
          </p:cNvPr>
          <p:cNvSpPr/>
          <p:nvPr/>
        </p:nvSpPr>
        <p:spPr>
          <a:xfrm>
            <a:off x="5745384" y="2332482"/>
            <a:ext cx="5992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783EF420-72AA-0752-067D-084B50FCA32D}"/>
              </a:ext>
            </a:extLst>
          </p:cNvPr>
          <p:cNvSpPr/>
          <p:nvPr/>
        </p:nvSpPr>
        <p:spPr>
          <a:xfrm>
            <a:off x="5745384" y="2332482"/>
            <a:ext cx="599256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C5DC9B2-FF68-9877-054B-5E38C161AEC7}"/>
              </a:ext>
            </a:extLst>
          </p:cNvPr>
          <p:cNvSpPr/>
          <p:nvPr/>
        </p:nvSpPr>
        <p:spPr>
          <a:xfrm>
            <a:off x="8070084" y="233248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FCA130"/>
            </a:solidFill>
            <a:prstDash val="solid"/>
          </a:ln>
        </p:spPr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6F19F862-9704-C64A-82B5-1BBA34162C29}"/>
              </a:ext>
            </a:extLst>
          </p:cNvPr>
          <p:cNvSpPr/>
          <p:nvPr/>
        </p:nvSpPr>
        <p:spPr>
          <a:xfrm>
            <a:off x="8070084" y="2332482"/>
            <a:ext cx="612000" cy="347472"/>
          </a:xfrm>
          <a:prstGeom prst="rect">
            <a:avLst/>
          </a:prstGeom>
          <a:noFill/>
          <a:ln>
            <a:solidFill>
              <a:srgbClr val="FCA13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50" dirty="0"/>
          </a:p>
        </p:txBody>
      </p:sp>
      <p:sp>
        <p:nvSpPr>
          <p:cNvPr id="58" name="Shape 11">
            <a:extLst>
              <a:ext uri="{FF2B5EF4-FFF2-40B4-BE49-F238E27FC236}">
                <a16:creationId xmlns:a16="http://schemas.microsoft.com/office/drawing/2014/main" id="{54182064-4514-9D5E-C1EA-3C9E36E3A6CB}"/>
              </a:ext>
            </a:extLst>
          </p:cNvPr>
          <p:cNvSpPr/>
          <p:nvPr/>
        </p:nvSpPr>
        <p:spPr>
          <a:xfrm>
            <a:off x="7315380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27E21C72-ABA1-71AB-8236-89E60E4D62D1}"/>
              </a:ext>
            </a:extLst>
          </p:cNvPr>
          <p:cNvSpPr/>
          <p:nvPr/>
        </p:nvSpPr>
        <p:spPr>
          <a:xfrm>
            <a:off x="7315380" y="2335530"/>
            <a:ext cx="61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5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41CB4892-1674-5921-B306-124282522AA9}"/>
              </a:ext>
            </a:extLst>
          </p:cNvPr>
          <p:cNvSpPr/>
          <p:nvPr/>
        </p:nvSpPr>
        <p:spPr>
          <a:xfrm>
            <a:off x="6506640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0E3C2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50E3C2"/>
              </a:solidFill>
            </a:endParaRPr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91E5F37-0CDF-D0FD-AADD-5A931B8668D0}"/>
              </a:ext>
            </a:extLst>
          </p:cNvPr>
          <p:cNvSpPr/>
          <p:nvPr/>
        </p:nvSpPr>
        <p:spPr>
          <a:xfrm>
            <a:off x="6506640" y="2331720"/>
            <a:ext cx="612000" cy="347472"/>
          </a:xfrm>
          <a:prstGeom prst="rect">
            <a:avLst/>
          </a:prstGeom>
          <a:noFill/>
          <a:ln>
            <a:solidFill>
              <a:srgbClr val="50E3C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50E3C2"/>
                </a:solidFill>
                <a:latin typeface="Consolas" pitchFamily="34" charset="0"/>
              </a:rPr>
              <a:t>PATCH</a:t>
            </a:r>
            <a:endParaRPr lang="en-US" sz="950" dirty="0">
              <a:solidFill>
                <a:srgbClr val="50E3C2"/>
              </a:solidFill>
            </a:endParaRPr>
          </a:p>
        </p:txBody>
      </p:sp>
      <p:sp>
        <p:nvSpPr>
          <p:cNvPr id="72" name="Shape 5">
            <a:extLst>
              <a:ext uri="{FF2B5EF4-FFF2-40B4-BE49-F238E27FC236}">
                <a16:creationId xmlns:a16="http://schemas.microsoft.com/office/drawing/2014/main" id="{BF7359CF-C644-FB62-000F-1B6B41BAEA5B}"/>
              </a:ext>
            </a:extLst>
          </p:cNvPr>
          <p:cNvSpPr/>
          <p:nvPr/>
        </p:nvSpPr>
        <p:spPr>
          <a:xfrm>
            <a:off x="634536" y="411937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61AFFE"/>
            </a:solidFill>
            <a:prstDash val="solid"/>
          </a:ln>
        </p:spPr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92449D77-3C6F-BDAF-B3F5-324C80429A80}"/>
              </a:ext>
            </a:extLst>
          </p:cNvPr>
          <p:cNvSpPr/>
          <p:nvPr/>
        </p:nvSpPr>
        <p:spPr>
          <a:xfrm>
            <a:off x="603504" y="4119372"/>
            <a:ext cx="643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A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61AFFE"/>
              </a:solidFill>
            </a:endParaRPr>
          </a:p>
        </p:txBody>
      </p:sp>
      <p:sp>
        <p:nvSpPr>
          <p:cNvPr id="74" name="Shape 7">
            <a:extLst>
              <a:ext uri="{FF2B5EF4-FFF2-40B4-BE49-F238E27FC236}">
                <a16:creationId xmlns:a16="http://schemas.microsoft.com/office/drawing/2014/main" id="{F6B3D28F-A48E-074C-7F7A-2DCFED31A291}"/>
              </a:ext>
            </a:extLst>
          </p:cNvPr>
          <p:cNvSpPr/>
          <p:nvPr/>
        </p:nvSpPr>
        <p:spPr>
          <a:xfrm>
            <a:off x="1392840" y="4116324"/>
            <a:ext cx="5992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8D0A5774-E89B-7D5C-53DF-34F056DDBDC8}"/>
              </a:ext>
            </a:extLst>
          </p:cNvPr>
          <p:cNvSpPr/>
          <p:nvPr/>
        </p:nvSpPr>
        <p:spPr>
          <a:xfrm>
            <a:off x="1392840" y="4116324"/>
            <a:ext cx="599256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76" name="Shape 9">
            <a:extLst>
              <a:ext uri="{FF2B5EF4-FFF2-40B4-BE49-F238E27FC236}">
                <a16:creationId xmlns:a16="http://schemas.microsoft.com/office/drawing/2014/main" id="{28A3D229-CC3E-0E27-12AE-9FFBE4E25420}"/>
              </a:ext>
            </a:extLst>
          </p:cNvPr>
          <p:cNvSpPr/>
          <p:nvPr/>
        </p:nvSpPr>
        <p:spPr>
          <a:xfrm>
            <a:off x="3717540" y="4116324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FCA130"/>
            </a:solidFill>
            <a:prstDash val="solid"/>
          </a:ln>
        </p:spPr>
      </p:sp>
      <p:sp>
        <p:nvSpPr>
          <p:cNvPr id="77" name="Text 10">
            <a:extLst>
              <a:ext uri="{FF2B5EF4-FFF2-40B4-BE49-F238E27FC236}">
                <a16:creationId xmlns:a16="http://schemas.microsoft.com/office/drawing/2014/main" id="{5B3C2AD5-53F7-3294-FA83-A3742DC4BA26}"/>
              </a:ext>
            </a:extLst>
          </p:cNvPr>
          <p:cNvSpPr/>
          <p:nvPr/>
        </p:nvSpPr>
        <p:spPr>
          <a:xfrm>
            <a:off x="3717540" y="4116324"/>
            <a:ext cx="612000" cy="347472"/>
          </a:xfrm>
          <a:prstGeom prst="rect">
            <a:avLst/>
          </a:prstGeom>
          <a:noFill/>
          <a:ln>
            <a:solidFill>
              <a:srgbClr val="FCA13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50" dirty="0"/>
          </a:p>
        </p:txBody>
      </p:sp>
      <p:sp>
        <p:nvSpPr>
          <p:cNvPr id="78" name="Shape 11">
            <a:extLst>
              <a:ext uri="{FF2B5EF4-FFF2-40B4-BE49-F238E27FC236}">
                <a16:creationId xmlns:a16="http://schemas.microsoft.com/office/drawing/2014/main" id="{F1A35CD4-013A-2FBF-B998-65D68C65051F}"/>
              </a:ext>
            </a:extLst>
          </p:cNvPr>
          <p:cNvSpPr/>
          <p:nvPr/>
        </p:nvSpPr>
        <p:spPr>
          <a:xfrm>
            <a:off x="2962836" y="411937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DAFC3DBB-23CA-1503-80DE-C0139F616799}"/>
              </a:ext>
            </a:extLst>
          </p:cNvPr>
          <p:cNvSpPr/>
          <p:nvPr/>
        </p:nvSpPr>
        <p:spPr>
          <a:xfrm>
            <a:off x="2962836" y="4119372"/>
            <a:ext cx="61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50" dirty="0"/>
          </a:p>
        </p:txBody>
      </p:sp>
      <p:sp>
        <p:nvSpPr>
          <p:cNvPr id="80" name="Shape 11">
            <a:extLst>
              <a:ext uri="{FF2B5EF4-FFF2-40B4-BE49-F238E27FC236}">
                <a16:creationId xmlns:a16="http://schemas.microsoft.com/office/drawing/2014/main" id="{164EB40E-6E78-862F-3B5E-5A31655EEDCB}"/>
              </a:ext>
            </a:extLst>
          </p:cNvPr>
          <p:cNvSpPr/>
          <p:nvPr/>
        </p:nvSpPr>
        <p:spPr>
          <a:xfrm>
            <a:off x="2171466" y="4116324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0E3C2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50E3C2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B4AC7576-B2E9-C4A7-01BD-639AA764FC47}"/>
              </a:ext>
            </a:extLst>
          </p:cNvPr>
          <p:cNvSpPr/>
          <p:nvPr/>
        </p:nvSpPr>
        <p:spPr>
          <a:xfrm>
            <a:off x="2171466" y="4114800"/>
            <a:ext cx="612000" cy="347472"/>
          </a:xfrm>
          <a:prstGeom prst="rect">
            <a:avLst/>
          </a:prstGeom>
          <a:noFill/>
          <a:ln>
            <a:solidFill>
              <a:srgbClr val="50E3C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50E3C2"/>
                </a:solidFill>
                <a:latin typeface="Consolas" pitchFamily="34" charset="0"/>
              </a:rPr>
              <a:t>PATCH</a:t>
            </a:r>
            <a:endParaRPr lang="en-US" sz="950" dirty="0">
              <a:solidFill>
                <a:srgbClr val="50E3C2"/>
              </a:solidFill>
            </a:endParaRPr>
          </a:p>
        </p:txBody>
      </p:sp>
      <p:pic>
        <p:nvPicPr>
          <p:cNvPr id="82" name="Image 0" descr="preencoded.png">
            <a:extLst>
              <a:ext uri="{FF2B5EF4-FFF2-40B4-BE49-F238E27FC236}">
                <a16:creationId xmlns:a16="http://schemas.microsoft.com/office/drawing/2014/main" id="{C222282B-9F0F-04A8-C67D-2205AE37A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9271" y="-55246"/>
            <a:ext cx="10701918" cy="11891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28601" y="1688592"/>
            <a:ext cx="4206240" cy="1417320"/>
          </a:xfrm>
          <a:prstGeom prst="rect">
            <a:avLst/>
          </a:prstGeom>
          <a:solidFill>
            <a:srgbClr val="060C1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1" y="17617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1" y="20543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.\venv\Scripts\activate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11481" y="23743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11481" y="2694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app.main:app --reload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28601" y="3261360"/>
            <a:ext cx="4206240" cy="1417320"/>
          </a:xfrm>
          <a:prstGeom prst="rect">
            <a:avLst/>
          </a:prstGeom>
          <a:solidFill>
            <a:srgbClr val="060C1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1" y="3334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Frontend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1" y="3627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1" y="3901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       # local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1" y="4175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     # producție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53940" y="1527048"/>
            <a:ext cx="1874520" cy="155448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15" name="Imag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91100" y="1691640"/>
            <a:ext cx="493776" cy="4937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6" name="Text 11"/>
          <p:cNvSpPr/>
          <p:nvPr/>
        </p:nvSpPr>
        <p:spPr>
          <a:xfrm>
            <a:off x="5567172" y="16916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ro-RO" sz="12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Render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991100" y="227685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auto-deploy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</a:t>
            </a: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fiecare push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911340" y="1527048"/>
            <a:ext cx="1874520" cy="155448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19" name="Imag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48500" y="1691640"/>
            <a:ext cx="493776" cy="4937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" name="Text 14"/>
          <p:cNvSpPr/>
          <p:nvPr/>
        </p:nvSpPr>
        <p:spPr>
          <a:xfrm>
            <a:off x="7624572" y="16916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ro-RO" sz="12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Hostinger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048500" y="227685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</a:t>
            </a: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build → dist/</a:t>
            </a:r>
            <a:endParaRPr lang="en-US" sz="1000" b="1" dirty="0"/>
          </a:p>
        </p:txBody>
      </p:sp>
      <p:sp>
        <p:nvSpPr>
          <p:cNvPr id="22" name="Shape 16"/>
          <p:cNvSpPr/>
          <p:nvPr/>
        </p:nvSpPr>
        <p:spPr>
          <a:xfrm>
            <a:off x="4853940" y="3310128"/>
            <a:ext cx="1874520" cy="155448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3" name="Image 4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91100" y="3536299"/>
            <a:ext cx="493776" cy="40476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4" name="Text 17"/>
          <p:cNvSpPr/>
          <p:nvPr/>
        </p:nvSpPr>
        <p:spPr>
          <a:xfrm>
            <a:off x="5567172" y="347472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ro-RO" sz="12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Supabase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991100" y="405993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r>
              <a:rPr lang="ro-RO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menținută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cloud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911340" y="3310128"/>
            <a:ext cx="1874520" cy="155448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7" name="Image 5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91172" y="3536299"/>
            <a:ext cx="408432" cy="4084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624572" y="347472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ro-RO" sz="12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Code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7048500" y="405993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 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dezvoltare locală</a:t>
            </a:r>
            <a:endParaRPr lang="en-US" sz="1000" dirty="0"/>
          </a:p>
        </p:txBody>
      </p:sp>
      <p:sp>
        <p:nvSpPr>
          <p:cNvPr id="32" name="CasetăText 31">
            <a:extLst>
              <a:ext uri="{FF2B5EF4-FFF2-40B4-BE49-F238E27FC236}">
                <a16:creationId xmlns:a16="http://schemas.microsoft.com/office/drawing/2014/main" id="{12B87218-F13F-DFC9-2C1F-C45123141C1F}"/>
              </a:ext>
            </a:extLst>
          </p:cNvPr>
          <p:cNvSpPr txBox="1"/>
          <p:nvPr/>
        </p:nvSpPr>
        <p:spPr>
          <a:xfrm>
            <a:off x="-402335" y="900946"/>
            <a:ext cx="49743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2800" b="1" dirty="0"/>
          </a:p>
        </p:txBody>
      </p:sp>
      <p:sp>
        <p:nvSpPr>
          <p:cNvPr id="34" name="CasetăText 33">
            <a:extLst>
              <a:ext uri="{FF2B5EF4-FFF2-40B4-BE49-F238E27FC236}">
                <a16:creationId xmlns:a16="http://schemas.microsoft.com/office/drawing/2014/main" id="{65227549-6888-4675-A329-3FB285BB3235}"/>
              </a:ext>
            </a:extLst>
          </p:cNvPr>
          <p:cNvSpPr txBox="1"/>
          <p:nvPr/>
        </p:nvSpPr>
        <p:spPr>
          <a:xfrm>
            <a:off x="4434841" y="900946"/>
            <a:ext cx="47739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</a:t>
            </a:r>
            <a:r>
              <a:rPr lang="ro-RO" sz="28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Ă</a:t>
            </a:r>
            <a:endParaRPr lang="en-US" sz="2800" b="1" dirty="0"/>
          </a:p>
        </p:txBody>
      </p:sp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C081AA50-B193-02B2-6E29-04320BEA04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1" y="-22598"/>
            <a:ext cx="82296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"/>
            <a:ext cx="822960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2534" y="112776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045714" y="1737159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5414" y="1310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6366F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5414" y="158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Configurare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5414" y="1950720"/>
            <a:ext cx="23667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proiectului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în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și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inițializarea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framework-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ului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pentru o dezvoltare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asincronă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și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scalabilă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b="1" dirty="0"/>
          </a:p>
        </p:txBody>
      </p:sp>
      <p:sp>
        <p:nvSpPr>
          <p:cNvPr id="8" name="Shape 5"/>
          <p:cNvSpPr/>
          <p:nvPr/>
        </p:nvSpPr>
        <p:spPr>
          <a:xfrm>
            <a:off x="3342894" y="112776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26074" y="1744579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525774" y="1264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22D3E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25774" y="158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Dezvoltare backend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25774" y="1950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motorului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SQLAlchemy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pentru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gestiunea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bazei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date și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utilizarea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Pydantic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pentru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strictă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datelor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23254" y="112776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6134" y="1264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10B98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6134" y="158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Gestiunea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datelor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18326" y="1996239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Proiectarea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structurii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în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și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documentației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interactive prin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Swagger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pentru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endpoint-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urilor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2534" y="313944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45714" y="3779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5414" y="3276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6366F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5414" y="3596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Interfața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React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5414" y="3962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Crearea componentelor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și integrarea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-ului.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42894" y="313944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31408" y="37719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525774" y="3276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FFFF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525774" y="3596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Sincronizare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Git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525774" y="3962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codului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sursă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folosind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și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instanței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bază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date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relațională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în </a:t>
            </a:r>
            <a:r>
              <a:rPr lang="en-US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23254" y="313944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6134" y="3276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F59E0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406134" y="3596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Lansare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în cloud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06134" y="3962400"/>
            <a:ext cx="2343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Găzduirea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aplicației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frontend pe </a:t>
            </a:r>
            <a:r>
              <a:rPr lang="en-US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Hostinger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și deployment-ul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serviciului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backend pe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dirty="0"/>
          </a:p>
        </p:txBody>
      </p:sp>
      <p:pic>
        <p:nvPicPr>
          <p:cNvPr id="32" name="Image 2">
            <a:extLst>
              <a:ext uri="{FF2B5EF4-FFF2-40B4-BE49-F238E27FC236}">
                <a16:creationId xmlns:a16="http://schemas.microsoft.com/office/drawing/2014/main" id="{E3B6C81A-DA29-EE96-4060-522DD42A02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333" r="25333"/>
          <a:stretch/>
        </p:blipFill>
        <p:spPr>
          <a:xfrm>
            <a:off x="1914144" y="1211580"/>
            <a:ext cx="571500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3" name="Image 3">
            <a:extLst>
              <a:ext uri="{FF2B5EF4-FFF2-40B4-BE49-F238E27FC236}">
                <a16:creationId xmlns:a16="http://schemas.microsoft.com/office/drawing/2014/main" id="{02F8A32E-CEFF-4100-A2BF-7813295BD2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66622" y="1222558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4" name="Image 6">
            <a:extLst>
              <a:ext uri="{FF2B5EF4-FFF2-40B4-BE49-F238E27FC236}">
                <a16:creationId xmlns:a16="http://schemas.microsoft.com/office/drawing/2014/main" id="{B7EF75AA-A841-85D5-CE82-04929CB7DF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1279" y="1211580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5" name="Image 2">
            <a:extLst>
              <a:ext uri="{FF2B5EF4-FFF2-40B4-BE49-F238E27FC236}">
                <a16:creationId xmlns:a16="http://schemas.microsoft.com/office/drawing/2014/main" id="{47AC1677-18BA-E0A2-BDB1-DF44A52C5F1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35" r="1535"/>
          <a:stretch/>
        </p:blipFill>
        <p:spPr>
          <a:xfrm>
            <a:off x="6881622" y="1215645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6" name="Image 4">
            <a:extLst>
              <a:ext uri="{FF2B5EF4-FFF2-40B4-BE49-F238E27FC236}">
                <a16:creationId xmlns:a16="http://schemas.microsoft.com/office/drawing/2014/main" id="{8B2D23A7-7B36-281D-0FAF-6FA1CD42EFC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95851" y="3205493"/>
            <a:ext cx="521208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7" name="Image 6">
            <a:extLst>
              <a:ext uri="{FF2B5EF4-FFF2-40B4-BE49-F238E27FC236}">
                <a16:creationId xmlns:a16="http://schemas.microsoft.com/office/drawing/2014/main" id="{2E046956-BF6C-90EB-1DB1-36B2AE3E0BA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68908" y="3215239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8" name="Image 7">
            <a:extLst>
              <a:ext uri="{FF2B5EF4-FFF2-40B4-BE49-F238E27FC236}">
                <a16:creationId xmlns:a16="http://schemas.microsoft.com/office/drawing/2014/main" id="{9B38ED17-2A60-13D2-651F-ACAC4543E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34718" y="3199598"/>
            <a:ext cx="530352" cy="54599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9" name="Image 6">
            <a:extLst>
              <a:ext uri="{FF2B5EF4-FFF2-40B4-BE49-F238E27FC236}">
                <a16:creationId xmlns:a16="http://schemas.microsoft.com/office/drawing/2014/main" id="{8E1625A9-48D3-F507-CA8C-02DBB2E499C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045459" y="3207418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40" name="Image 3">
            <a:extLst>
              <a:ext uri="{FF2B5EF4-FFF2-40B4-BE49-F238E27FC236}">
                <a16:creationId xmlns:a16="http://schemas.microsoft.com/office/drawing/2014/main" id="{065C9701-9649-0B2B-AA42-1CE53D99DDB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918198" y="3257910"/>
            <a:ext cx="493776" cy="4937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1" name="Image 2">
            <a:extLst>
              <a:ext uri="{FF2B5EF4-FFF2-40B4-BE49-F238E27FC236}">
                <a16:creationId xmlns:a16="http://schemas.microsoft.com/office/drawing/2014/main" id="{49E388BF-3A6E-DCD1-570B-6CE28A844C7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777734" y="3257910"/>
            <a:ext cx="493776" cy="50833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42" name="Image 6">
            <a:extLst>
              <a:ext uri="{FF2B5EF4-FFF2-40B4-BE49-F238E27FC236}">
                <a16:creationId xmlns:a16="http://schemas.microsoft.com/office/drawing/2014/main" id="{83849437-EF2E-8967-F329-73C299DBFF4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741158" y="1219200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43" name="Image 3">
            <a:extLst>
              <a:ext uri="{FF2B5EF4-FFF2-40B4-BE49-F238E27FC236}">
                <a16:creationId xmlns:a16="http://schemas.microsoft.com/office/drawing/2014/main" id="{4E6723D9-576D-9AE7-7B5C-BAC2CA6683A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661" r="661"/>
          <a:stretch/>
        </p:blipFill>
        <p:spPr>
          <a:xfrm>
            <a:off x="4006597" y="1208025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41002AD1-67C7-CFC0-4279-979F8572D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569" y="106680"/>
            <a:ext cx="3354861" cy="1096781"/>
          </a:xfrm>
          <a:prstGeom prst="rect">
            <a:avLst/>
          </a:prstGeom>
        </p:spPr>
      </p:pic>
      <p:sp>
        <p:nvSpPr>
          <p:cNvPr id="7" name="Shape 16">
            <a:extLst>
              <a:ext uri="{FF2B5EF4-FFF2-40B4-BE49-F238E27FC236}">
                <a16:creationId xmlns:a16="http://schemas.microsoft.com/office/drawing/2014/main" id="{EAD13ABF-C891-C86B-7074-0FA17B0C1B9C}"/>
              </a:ext>
            </a:extLst>
          </p:cNvPr>
          <p:cNvSpPr/>
          <p:nvPr/>
        </p:nvSpPr>
        <p:spPr>
          <a:xfrm>
            <a:off x="347471" y="1414248"/>
            <a:ext cx="8449056" cy="384048"/>
          </a:xfrm>
          <a:prstGeom prst="rect">
            <a:avLst/>
          </a:prstGeom>
          <a:solidFill>
            <a:srgbClr val="0E1628"/>
          </a:solidFill>
          <a:ln w="38100">
            <a:solidFill>
              <a:srgbClr val="38BDF8"/>
            </a:solidFill>
            <a:prstDash val="solid"/>
          </a:ln>
        </p:spPr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3A7FA51B-09B4-967F-C1AC-878A9D6A71B7}"/>
              </a:ext>
            </a:extLst>
          </p:cNvPr>
          <p:cNvSpPr txBox="1"/>
          <p:nvPr/>
        </p:nvSpPr>
        <p:spPr>
          <a:xfrm>
            <a:off x="2285998" y="143098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https://fermo.top/The-inventory/</a:t>
            </a:r>
            <a:endParaRPr lang="en-US" sz="1800" b="1" dirty="0"/>
          </a:p>
        </p:txBody>
      </p:sp>
      <p:pic>
        <p:nvPicPr>
          <p:cNvPr id="19" name="Grafic 18">
            <a:extLst>
              <a:ext uri="{FF2B5EF4-FFF2-40B4-BE49-F238E27FC236}">
                <a16:creationId xmlns:a16="http://schemas.microsoft.com/office/drawing/2014/main" id="{C82636AF-A776-4B45-A003-AD4C32B35C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72332" y="2124535"/>
            <a:ext cx="2599334" cy="2610652"/>
          </a:xfrm>
          <a:prstGeom prst="rect">
            <a:avLst/>
          </a:prstGeom>
          <a:ln w="38100">
            <a:solidFill>
              <a:srgbClr val="38BDF8"/>
            </a:solidFill>
          </a:ln>
        </p:spPr>
      </p:pic>
    </p:spTree>
    <p:extLst>
      <p:ext uri="{BB962C8B-B14F-4D97-AF65-F5344CB8AC3E}">
        <p14:creationId xmlns:p14="http://schemas.microsoft.com/office/powerpoint/2010/main" val="1292600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914400"/>
            <a:ext cx="5486400" cy="3200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75844" y="132588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Shape 1"/>
          <p:cNvSpPr/>
          <p:nvPr/>
        </p:nvSpPr>
        <p:spPr>
          <a:xfrm>
            <a:off x="375844" y="1325880"/>
            <a:ext cx="4059936" cy="45719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6" name="Image 2"/>
          <p:cNvPicPr>
            <a:picLocks noChangeAspect="1"/>
          </p:cNvPicPr>
          <p:nvPr/>
        </p:nvPicPr>
        <p:blipFill>
          <a:blip r:embed="rId4"/>
          <a:srcRect t="1133" b="1133"/>
          <a:stretch/>
        </p:blipFill>
        <p:spPr>
          <a:xfrm>
            <a:off x="508307" y="1681939"/>
            <a:ext cx="476601" cy="47660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7" name="Text 2"/>
          <p:cNvSpPr/>
          <p:nvPr/>
        </p:nvSpPr>
        <p:spPr>
          <a:xfrm>
            <a:off x="1119688" y="150876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r>
              <a:rPr lang="en-US" sz="13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Modelarea</a:t>
            </a: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datelor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1119688" y="187452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Structură relațională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fără </a:t>
            </a:r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redundanță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Warehouses, Suppliers 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4783252" y="132588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783252" y="1325880"/>
            <a:ext cx="4059936" cy="4571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3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63597" y="1704104"/>
            <a:ext cx="476601" cy="4766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27096" y="150876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</a:t>
            </a: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Async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5527096" y="187452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asincron cu validare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rute de transfer securizate și documentație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automată.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75844" y="301752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375844" y="3017520"/>
            <a:ext cx="4059936" cy="45719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6" name="Image 4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5064" y="3466489"/>
            <a:ext cx="735167" cy="4135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19688" y="320040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DevOps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1119688" y="356616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(DB) + Render (API) 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(Frontend) </a:t>
            </a:r>
            <a:r>
              <a:rPr lang="ro-RO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mediu distribuit complet, live.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783252" y="301752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4783252" y="3017520"/>
            <a:ext cx="4059936" cy="4571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5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29832" y="3474166"/>
            <a:ext cx="538715" cy="39817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2" name="Text 14"/>
          <p:cNvSpPr/>
          <p:nvPr/>
        </p:nvSpPr>
        <p:spPr>
          <a:xfrm>
            <a:off x="5527096" y="320040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Dev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5527096" y="356616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hooks, state management,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Tailwind CSS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integrare end-to-end.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347472" y="4553712"/>
            <a:ext cx="8449056" cy="38404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347472" y="4553712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</a:t>
            </a:r>
            <a:r>
              <a:rPr lang="ro-RO" sz="1000" b="1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țumesc</a:t>
            </a:r>
            <a:r>
              <a:rPr lang="ro-RO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pentru atenție !</a:t>
            </a:r>
            <a:endParaRPr lang="en-US" sz="1000" b="1" dirty="0"/>
          </a:p>
        </p:txBody>
      </p:sp>
      <p:pic>
        <p:nvPicPr>
          <p:cNvPr id="43" name="Image 0" descr="preencoded.png">
            <a:extLst>
              <a:ext uri="{FF2B5EF4-FFF2-40B4-BE49-F238E27FC236}">
                <a16:creationId xmlns:a16="http://schemas.microsoft.com/office/drawing/2014/main" id="{6744D11D-32B2-462E-773D-360A3A7714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-91440"/>
            <a:ext cx="8229600" cy="914400"/>
          </a:xfrm>
          <a:prstGeom prst="rect">
            <a:avLst/>
          </a:prstGeom>
        </p:spPr>
      </p:pic>
      <p:sp>
        <p:nvSpPr>
          <p:cNvPr id="47" name="CasetăText 46">
            <a:extLst>
              <a:ext uri="{FF2B5EF4-FFF2-40B4-BE49-F238E27FC236}">
                <a16:creationId xmlns:a16="http://schemas.microsoft.com/office/drawing/2014/main" id="{D8A72078-7CDE-AB22-694D-01D35175F1E4}"/>
              </a:ext>
            </a:extLst>
          </p:cNvPr>
          <p:cNvSpPr txBox="1"/>
          <p:nvPr/>
        </p:nvSpPr>
        <p:spPr>
          <a:xfrm>
            <a:off x="470742" y="716162"/>
            <a:ext cx="8522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spc="2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Competențe</a:t>
            </a:r>
            <a:r>
              <a:rPr lang="en-US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kern="0" spc="2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dobândite</a:t>
            </a:r>
            <a:r>
              <a:rPr lang="en-US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și </a:t>
            </a:r>
            <a:r>
              <a:rPr lang="en-US" b="1" kern="0" spc="2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obiective</a:t>
            </a:r>
            <a:r>
              <a:rPr lang="en-US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kern="0" spc="2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atinse</a:t>
            </a:r>
            <a:r>
              <a:rPr lang="en-US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în dezvoltarea </a:t>
            </a:r>
            <a:r>
              <a:rPr lang="en-US" b="1" kern="0" spc="2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proiectului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483</Words>
  <Application>Microsoft Office PowerPoint</Application>
  <PresentationFormat>Expunere pe ecran (16:9)</PresentationFormat>
  <Paragraphs>141</Paragraphs>
  <Slides>9</Slides>
  <Notes>7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Segoe UI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Inventory</dc:title>
  <dc:subject>PptxGenJS Presentation</dc:subject>
  <dc:creator>PptxGenJS</dc:creator>
  <cp:lastModifiedBy>Strugariu Filip</cp:lastModifiedBy>
  <cp:revision>14</cp:revision>
  <dcterms:created xsi:type="dcterms:W3CDTF">2026-05-15T08:52:47Z</dcterms:created>
  <dcterms:modified xsi:type="dcterms:W3CDTF">2026-05-24T06:59:00Z</dcterms:modified>
</cp:coreProperties>
</file>