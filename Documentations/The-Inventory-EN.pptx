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2" r:id="rId3"/>
    <p:sldId id="257" r:id="rId4"/>
    <p:sldId id="258" r:id="rId5"/>
    <p:sldId id="259" r:id="rId6"/>
    <p:sldId id="264" r:id="rId7"/>
    <p:sldId id="266" r:id="rId8"/>
    <p:sldId id="261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0D1A"/>
    <a:srgbClr val="49CC90"/>
    <a:srgbClr val="22D3EE"/>
    <a:srgbClr val="3776AB"/>
    <a:srgbClr val="6366F1"/>
    <a:srgbClr val="F59E0B"/>
    <a:srgbClr val="50E3C2"/>
    <a:srgbClr val="FCA130"/>
    <a:srgbClr val="61AFFE"/>
    <a:srgbClr val="7C3A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4797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6.png"/><Relationship Id="rId5" Type="http://schemas.openxmlformats.org/officeDocument/2006/relationships/image" Target="../media/image14.png"/><Relationship Id="rId15" Type="http://schemas.openxmlformats.org/officeDocument/2006/relationships/image" Target="../media/image22.png"/><Relationship Id="rId10" Type="http://schemas.openxmlformats.org/officeDocument/2006/relationships/image" Target="../media/image7.png"/><Relationship Id="rId4" Type="http://schemas.openxmlformats.org/officeDocument/2006/relationships/image" Target="../media/image9.png"/><Relationship Id="rId9" Type="http://schemas.openxmlformats.org/officeDocument/2006/relationships/image" Target="../media/image11.png"/><Relationship Id="rId1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fermo.top/The-inventory/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457200"/>
            <a:ext cx="5943600" cy="3840480"/>
          </a:xfrm>
          <a:prstGeom prst="rect">
            <a:avLst/>
          </a:prstGeom>
        </p:spPr>
      </p:pic>
      <p:pic>
        <p:nvPicPr>
          <p:cNvPr id="3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70540" y="580644"/>
            <a:ext cx="3602919" cy="39319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0" y="1005840"/>
            <a:ext cx="4572000" cy="87782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1737360"/>
            <a:ext cx="8046720" cy="128016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371600" y="31546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GB" sz="1300" dirty="0">
                <a:solidFill>
                  <a:srgbClr val="C4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Microservice for inventory management: products, warehouses, and suppliers</a:t>
            </a:r>
            <a:r>
              <a:rPr lang="en-US" sz="1300" dirty="0">
                <a:solidFill>
                  <a:srgbClr val="C4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7" name="Text 1"/>
          <p:cNvSpPr/>
          <p:nvPr/>
        </p:nvSpPr>
        <p:spPr>
          <a:xfrm>
            <a:off x="1371600" y="3703320"/>
            <a:ext cx="65608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o-RO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Strugariu Filip-Daniel</a:t>
            </a:r>
            <a:r>
              <a:rPr lang="en-US" sz="13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</a:t>
            </a:r>
            <a:r>
              <a:rPr lang="ro-RO" sz="13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o-RO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FIESC AN 1</a:t>
            </a:r>
            <a:r>
              <a:rPr lang="en-US" sz="13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ro-RO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Calculatoare Dual 3111Da</a:t>
            </a:r>
            <a:endParaRPr lang="en-US" sz="1300" dirty="0"/>
          </a:p>
        </p:txBody>
      </p:sp>
      <p:sp>
        <p:nvSpPr>
          <p:cNvPr id="8" name="Text 2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Strugariu Filip-Daniel  ·  ASSIST Learning  ·  2026</a:t>
            </a:r>
            <a:endParaRPr lang="en-US" sz="900" b="1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C031799-C80C-F89F-DBF3-F8B4EA76C040}"/>
              </a:ext>
            </a:extLst>
          </p:cNvPr>
          <p:cNvSpPr/>
          <p:nvPr/>
        </p:nvSpPr>
        <p:spPr>
          <a:xfrm>
            <a:off x="468630" y="989456"/>
            <a:ext cx="8275320" cy="3859530"/>
          </a:xfrm>
          <a:prstGeom prst="rect">
            <a:avLst/>
          </a:prstGeom>
          <a:solidFill>
            <a:srgbClr val="0E1628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96E51CA-485C-F418-7783-B8E6A4ADE260}"/>
              </a:ext>
            </a:extLst>
          </p:cNvPr>
          <p:cNvSpPr/>
          <p:nvPr/>
        </p:nvSpPr>
        <p:spPr>
          <a:xfrm>
            <a:off x="411480" y="989457"/>
            <a:ext cx="114300" cy="385953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AD0CCCA5-EB4C-5A83-88AC-79842100D542}"/>
              </a:ext>
            </a:extLst>
          </p:cNvPr>
          <p:cNvSpPr/>
          <p:nvPr/>
        </p:nvSpPr>
        <p:spPr>
          <a:xfrm>
            <a:off x="582930" y="1014459"/>
            <a:ext cx="7932420" cy="19687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ro-RO" sz="16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</a:t>
            </a:r>
            <a:r>
              <a:rPr lang="en-GB" sz="16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ATION:</a:t>
            </a:r>
            <a:endParaRPr lang="ro-RO" sz="1600" b="1" kern="0" spc="300" dirty="0">
              <a:solidFill>
                <a:srgbClr val="22D3E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GB" sz="1600" b="1" dirty="0">
              <a:solidFill>
                <a:srgbClr val="C4CDD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chose this topic to learn how to manage a real database through an </a:t>
            </a:r>
            <a:r>
              <a:rPr lang="en-GB" sz="14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r>
              <a:rPr lang="en-GB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to understand how to develop a </a:t>
            </a:r>
            <a:r>
              <a:rPr lang="en-GB" sz="14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</a:t>
            </a:r>
            <a:r>
              <a:rPr lang="en-GB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application step by step.</a:t>
            </a:r>
            <a:endParaRPr lang="ro-RO" sz="1400" dirty="0">
              <a:solidFill>
                <a:schemeClr val="bg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Inventory </a:t>
            </a:r>
            <a:r>
              <a:rPr lang="en-GB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</a:t>
            </a:r>
            <a:r>
              <a:rPr lang="en-GB" sz="14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</a:t>
            </a:r>
            <a:r>
              <a:rPr lang="en-GB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application built to optimize warehouse workflows. It allows real-time stock monitoring, supplier relationship management, and freight transfer between locations.</a:t>
            </a:r>
            <a:endParaRPr lang="en-US" sz="1400" dirty="0">
              <a:solidFill>
                <a:schemeClr val="bg2"/>
              </a:solidFill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DA47540A-E9E3-BEF6-2503-753CBA751223}"/>
              </a:ext>
            </a:extLst>
          </p:cNvPr>
          <p:cNvSpPr/>
          <p:nvPr/>
        </p:nvSpPr>
        <p:spPr>
          <a:xfrm>
            <a:off x="4674871" y="3102388"/>
            <a:ext cx="3840479" cy="685800"/>
          </a:xfrm>
          <a:prstGeom prst="rect">
            <a:avLst/>
          </a:prstGeom>
          <a:solidFill>
            <a:srgbClr val="0A1422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26ECC3B-1B5B-B422-98C1-016D0E9E18F3}"/>
              </a:ext>
            </a:extLst>
          </p:cNvPr>
          <p:cNvSpPr/>
          <p:nvPr/>
        </p:nvSpPr>
        <p:spPr>
          <a:xfrm>
            <a:off x="4926330" y="3166157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65814A7-5CF9-783C-DBCA-C5210E3895AB}"/>
              </a:ext>
            </a:extLst>
          </p:cNvPr>
          <p:cNvSpPr/>
          <p:nvPr/>
        </p:nvSpPr>
        <p:spPr>
          <a:xfrm>
            <a:off x="4834890" y="348157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main </a:t>
            </a:r>
            <a:r>
              <a:rPr lang="en-US" sz="11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routes</a:t>
            </a:r>
            <a:endParaRPr lang="en-US" sz="1100" dirty="0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9C39FCCA-286B-AAE4-E4B7-1D3EBA74561E}"/>
              </a:ext>
            </a:extLst>
          </p:cNvPr>
          <p:cNvSpPr/>
          <p:nvPr/>
        </p:nvSpPr>
        <p:spPr>
          <a:xfrm>
            <a:off x="640080" y="3103912"/>
            <a:ext cx="3840480" cy="685800"/>
          </a:xfrm>
          <a:prstGeom prst="rect">
            <a:avLst/>
          </a:prstGeom>
          <a:solidFill>
            <a:srgbClr val="0A1422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843F429-4719-7FE4-D6D2-AE4692E5EAFA}"/>
              </a:ext>
            </a:extLst>
          </p:cNvPr>
          <p:cNvSpPr/>
          <p:nvPr/>
        </p:nvSpPr>
        <p:spPr>
          <a:xfrm>
            <a:off x="640080" y="3170682"/>
            <a:ext cx="2164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Full-Stack</a:t>
            </a:r>
            <a:endParaRPr lang="en-US" sz="22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EC50D3D-4359-2FED-03E3-50B0F60F3CEF}"/>
              </a:ext>
            </a:extLst>
          </p:cNvPr>
          <p:cNvSpPr/>
          <p:nvPr/>
        </p:nvSpPr>
        <p:spPr>
          <a:xfrm>
            <a:off x="640080" y="348157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architecture</a:t>
            </a:r>
            <a:endParaRPr lang="en-US" sz="1100" dirty="0"/>
          </a:p>
        </p:txBody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6E3B2040-14C0-5445-EC75-AA59EF43466F}"/>
              </a:ext>
            </a:extLst>
          </p:cNvPr>
          <p:cNvSpPr/>
          <p:nvPr/>
        </p:nvSpPr>
        <p:spPr>
          <a:xfrm>
            <a:off x="640080" y="3907536"/>
            <a:ext cx="3840480" cy="685800"/>
          </a:xfrm>
          <a:prstGeom prst="rect">
            <a:avLst/>
          </a:prstGeom>
          <a:solidFill>
            <a:srgbClr val="0A1422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DF4FD8EA-1E8A-F2B6-0686-D29812B84FCD}"/>
              </a:ext>
            </a:extLst>
          </p:cNvPr>
          <p:cNvSpPr/>
          <p:nvPr/>
        </p:nvSpPr>
        <p:spPr>
          <a:xfrm>
            <a:off x="640080" y="394792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</a:t>
            </a:r>
            <a:endParaRPr lang="en-US" sz="22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CD75DD07-3100-03ED-09E7-CF7FCF00BF9D}"/>
              </a:ext>
            </a:extLst>
          </p:cNvPr>
          <p:cNvSpPr/>
          <p:nvPr/>
        </p:nvSpPr>
        <p:spPr>
          <a:xfrm>
            <a:off x="640080" y="425881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</a:t>
            </a:r>
            <a:endParaRPr lang="en-US" sz="1100" dirty="0"/>
          </a:p>
        </p:txBody>
      </p:sp>
      <p:sp>
        <p:nvSpPr>
          <p:cNvPr id="18" name="Shape 3">
            <a:extLst>
              <a:ext uri="{FF2B5EF4-FFF2-40B4-BE49-F238E27FC236}">
                <a16:creationId xmlns:a16="http://schemas.microsoft.com/office/drawing/2014/main" id="{6E906C83-605B-FE8F-1651-7707C6618E2B}"/>
              </a:ext>
            </a:extLst>
          </p:cNvPr>
          <p:cNvSpPr/>
          <p:nvPr/>
        </p:nvSpPr>
        <p:spPr>
          <a:xfrm>
            <a:off x="4663439" y="3899677"/>
            <a:ext cx="3840480" cy="685800"/>
          </a:xfrm>
          <a:prstGeom prst="rect">
            <a:avLst/>
          </a:prstGeom>
          <a:solidFill>
            <a:srgbClr val="0A1422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946FD6ED-C5D9-CB93-E1A7-F6AC4585EFDB}"/>
              </a:ext>
            </a:extLst>
          </p:cNvPr>
          <p:cNvSpPr/>
          <p:nvPr/>
        </p:nvSpPr>
        <p:spPr>
          <a:xfrm>
            <a:off x="4926330" y="397040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Arial Black" pitchFamily="34" charset="0"/>
              </a:rPr>
              <a:t>3</a:t>
            </a:r>
            <a:endParaRPr lang="en-US" sz="2200" dirty="0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CB183417-AAF0-F584-541B-526D0C32EBAA}"/>
              </a:ext>
            </a:extLst>
          </p:cNvPr>
          <p:cNvSpPr/>
          <p:nvPr/>
        </p:nvSpPr>
        <p:spPr>
          <a:xfrm>
            <a:off x="4834890" y="429539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tables</a:t>
            </a:r>
            <a:endParaRPr lang="en-US" sz="1100" dirty="0"/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4F41233E-4870-59F4-DF13-16E59A064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89" y="14715"/>
            <a:ext cx="82296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7189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2"/>
          <p:cNvSpPr/>
          <p:nvPr/>
        </p:nvSpPr>
        <p:spPr>
          <a:xfrm>
            <a:off x="4802632" y="1182671"/>
            <a:ext cx="1828800" cy="987552"/>
          </a:xfrm>
          <a:prstGeom prst="rect">
            <a:avLst/>
          </a:prstGeom>
          <a:solidFill>
            <a:srgbClr val="0A1422"/>
          </a:solidFill>
          <a:ln w="12700">
            <a:solidFill>
              <a:srgbClr val="1C2A40"/>
            </a:solidFill>
            <a:prstDash val="solid"/>
          </a:ln>
        </p:spPr>
        <p:txBody>
          <a:bodyPr/>
          <a:lstStyle/>
          <a:p>
            <a:endParaRPr lang="en-GB" sz="1600" dirty="0">
              <a:solidFill>
                <a:srgbClr val="22D3EE"/>
              </a:solidFill>
            </a:endParaRPr>
          </a:p>
        </p:txBody>
      </p:sp>
      <p:pic>
        <p:nvPicPr>
          <p:cNvPr id="17" name="Image 2"/>
          <p:cNvPicPr>
            <a:picLocks noChangeAspect="1"/>
          </p:cNvPicPr>
          <p:nvPr/>
        </p:nvPicPr>
        <p:blipFill>
          <a:blip r:embed="rId3"/>
          <a:srcRect l="1535" r="1535"/>
          <a:stretch/>
        </p:blipFill>
        <p:spPr>
          <a:xfrm>
            <a:off x="4939284" y="1422082"/>
            <a:ext cx="530352" cy="53035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sp>
        <p:nvSpPr>
          <p:cNvPr id="18" name="Text 13"/>
          <p:cNvSpPr/>
          <p:nvPr/>
        </p:nvSpPr>
        <p:spPr>
          <a:xfrm>
            <a:off x="5574792" y="1204341"/>
            <a:ext cx="1005840" cy="8023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>
              <a:solidFill>
                <a:srgbClr val="22D3EE"/>
              </a:solidFill>
            </a:endParaRPr>
          </a:p>
        </p:txBody>
      </p:sp>
      <p:sp>
        <p:nvSpPr>
          <p:cNvPr id="21" name="Text 15"/>
          <p:cNvSpPr/>
          <p:nvPr/>
        </p:nvSpPr>
        <p:spPr>
          <a:xfrm>
            <a:off x="5454142" y="1267206"/>
            <a:ext cx="118313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600" dirty="0">
              <a:solidFill>
                <a:srgbClr val="22D3EE"/>
              </a:solidFill>
            </a:endParaRPr>
          </a:p>
        </p:txBody>
      </p:sp>
      <p:sp>
        <p:nvSpPr>
          <p:cNvPr id="22" name="Shape 16"/>
          <p:cNvSpPr/>
          <p:nvPr/>
        </p:nvSpPr>
        <p:spPr>
          <a:xfrm>
            <a:off x="4792980" y="2364486"/>
            <a:ext cx="1828800" cy="987552"/>
          </a:xfrm>
          <a:prstGeom prst="rect">
            <a:avLst/>
          </a:prstGeom>
          <a:solidFill>
            <a:srgbClr val="0A1422"/>
          </a:solidFill>
          <a:ln w="12700">
            <a:solidFill>
              <a:srgbClr val="1C2A40"/>
            </a:solidFill>
            <a:prstDash val="solid"/>
          </a:ln>
        </p:spPr>
        <p:txBody>
          <a:bodyPr/>
          <a:lstStyle/>
          <a:p>
            <a:endParaRPr lang="en-GB" sz="1600">
              <a:solidFill>
                <a:srgbClr val="22D3EE"/>
              </a:solidFill>
            </a:endParaRPr>
          </a:p>
        </p:txBody>
      </p:sp>
      <p:sp>
        <p:nvSpPr>
          <p:cNvPr id="24" name="Text 17"/>
          <p:cNvSpPr/>
          <p:nvPr/>
        </p:nvSpPr>
        <p:spPr>
          <a:xfrm>
            <a:off x="5542788" y="2437638"/>
            <a:ext cx="1005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600" dirty="0">
              <a:solidFill>
                <a:srgbClr val="22D3EE"/>
              </a:solidFill>
            </a:endParaRPr>
          </a:p>
        </p:txBody>
      </p:sp>
      <p:sp>
        <p:nvSpPr>
          <p:cNvPr id="27" name="Text 19"/>
          <p:cNvSpPr/>
          <p:nvPr/>
        </p:nvSpPr>
        <p:spPr>
          <a:xfrm>
            <a:off x="5514340" y="2455926"/>
            <a:ext cx="1005840" cy="760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Cloud</a:t>
            </a:r>
            <a:endParaRPr lang="en-US" sz="1600" dirty="0">
              <a:solidFill>
                <a:srgbClr val="22D3EE"/>
              </a:solidFill>
            </a:endParaRPr>
          </a:p>
        </p:txBody>
      </p:sp>
      <p:sp>
        <p:nvSpPr>
          <p:cNvPr id="28" name="Shape 20"/>
          <p:cNvSpPr/>
          <p:nvPr/>
        </p:nvSpPr>
        <p:spPr>
          <a:xfrm>
            <a:off x="4792980" y="3534918"/>
            <a:ext cx="1828800" cy="987552"/>
          </a:xfrm>
          <a:prstGeom prst="rect">
            <a:avLst/>
          </a:prstGeom>
          <a:solidFill>
            <a:srgbClr val="0A1422"/>
          </a:solidFill>
          <a:ln w="12700">
            <a:solidFill>
              <a:srgbClr val="1C2A40"/>
            </a:solidFill>
            <a:prstDash val="solid"/>
          </a:ln>
        </p:spPr>
      </p:sp>
      <p:pic>
        <p:nvPicPr>
          <p:cNvPr id="29" name="Image 6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939284" y="3759708"/>
            <a:ext cx="530352" cy="53035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sp>
        <p:nvSpPr>
          <p:cNvPr id="30" name="Text 21"/>
          <p:cNvSpPr/>
          <p:nvPr/>
        </p:nvSpPr>
        <p:spPr>
          <a:xfrm>
            <a:off x="5542788" y="3608070"/>
            <a:ext cx="1005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o-RO" sz="1600" b="1" dirty="0" err="1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600" dirty="0">
              <a:solidFill>
                <a:srgbClr val="22D3EE"/>
              </a:solidFill>
            </a:endParaRPr>
          </a:p>
        </p:txBody>
      </p:sp>
      <p:sp>
        <p:nvSpPr>
          <p:cNvPr id="52" name="Shape 12">
            <a:extLst>
              <a:ext uri="{FF2B5EF4-FFF2-40B4-BE49-F238E27FC236}">
                <a16:creationId xmlns:a16="http://schemas.microsoft.com/office/drawing/2014/main" id="{DA7B5ADE-AF9A-4A2E-ACB1-61D6B2191C92}"/>
              </a:ext>
            </a:extLst>
          </p:cNvPr>
          <p:cNvSpPr/>
          <p:nvPr/>
        </p:nvSpPr>
        <p:spPr>
          <a:xfrm>
            <a:off x="584200" y="1194054"/>
            <a:ext cx="1828800" cy="987552"/>
          </a:xfrm>
          <a:prstGeom prst="rect">
            <a:avLst/>
          </a:prstGeom>
          <a:solidFill>
            <a:srgbClr val="0A1422"/>
          </a:solidFill>
          <a:ln w="12700">
            <a:solidFill>
              <a:srgbClr val="1C2A40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pic>
        <p:nvPicPr>
          <p:cNvPr id="53" name="Image 2">
            <a:extLst>
              <a:ext uri="{FF2B5EF4-FFF2-40B4-BE49-F238E27FC236}">
                <a16:creationId xmlns:a16="http://schemas.microsoft.com/office/drawing/2014/main" id="{44381AB1-4526-87FC-A352-46FBA1200B0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5333" r="25333"/>
          <a:stretch/>
        </p:blipFill>
        <p:spPr>
          <a:xfrm>
            <a:off x="721360" y="1456563"/>
            <a:ext cx="571500" cy="53035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sp>
        <p:nvSpPr>
          <p:cNvPr id="54" name="Text 13">
            <a:extLst>
              <a:ext uri="{FF2B5EF4-FFF2-40B4-BE49-F238E27FC236}">
                <a16:creationId xmlns:a16="http://schemas.microsoft.com/office/drawing/2014/main" id="{E864F4BF-F179-6C4E-7ED2-16F780ED8AA2}"/>
              </a:ext>
            </a:extLst>
          </p:cNvPr>
          <p:cNvSpPr/>
          <p:nvPr/>
        </p:nvSpPr>
        <p:spPr>
          <a:xfrm>
            <a:off x="1291844" y="1286637"/>
            <a:ext cx="1005840" cy="8023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</a:t>
            </a:r>
            <a:endParaRPr lang="en-US" sz="1600" dirty="0">
              <a:solidFill>
                <a:srgbClr val="22D3EE"/>
              </a:solidFill>
            </a:endParaRPr>
          </a:p>
        </p:txBody>
      </p:sp>
      <p:sp>
        <p:nvSpPr>
          <p:cNvPr id="55" name="Shape 14">
            <a:extLst>
              <a:ext uri="{FF2B5EF4-FFF2-40B4-BE49-F238E27FC236}">
                <a16:creationId xmlns:a16="http://schemas.microsoft.com/office/drawing/2014/main" id="{67C5887B-9BF7-EFC3-E976-E42F905C5FA8}"/>
              </a:ext>
            </a:extLst>
          </p:cNvPr>
          <p:cNvSpPr/>
          <p:nvPr/>
        </p:nvSpPr>
        <p:spPr>
          <a:xfrm>
            <a:off x="2716657" y="1179407"/>
            <a:ext cx="1828800" cy="1016677"/>
          </a:xfrm>
          <a:prstGeom prst="rect">
            <a:avLst/>
          </a:prstGeom>
          <a:solidFill>
            <a:srgbClr val="0A1422"/>
          </a:solidFill>
          <a:ln w="12700">
            <a:solidFill>
              <a:srgbClr val="1C2A40"/>
            </a:solidFill>
            <a:prstDash val="solid"/>
          </a:ln>
        </p:spPr>
      </p:sp>
      <p:pic>
        <p:nvPicPr>
          <p:cNvPr id="56" name="Image 3">
            <a:extLst>
              <a:ext uri="{FF2B5EF4-FFF2-40B4-BE49-F238E27FC236}">
                <a16:creationId xmlns:a16="http://schemas.microsoft.com/office/drawing/2014/main" id="{49934891-9B4B-0F03-B02A-E5C8E235F58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862961" y="1411401"/>
            <a:ext cx="530352" cy="53746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sp>
        <p:nvSpPr>
          <p:cNvPr id="57" name="Text 15">
            <a:extLst>
              <a:ext uri="{FF2B5EF4-FFF2-40B4-BE49-F238E27FC236}">
                <a16:creationId xmlns:a16="http://schemas.microsoft.com/office/drawing/2014/main" id="{FA471C3F-5410-D599-A5B2-08B8EDFED89F}"/>
              </a:ext>
            </a:extLst>
          </p:cNvPr>
          <p:cNvSpPr/>
          <p:nvPr/>
        </p:nvSpPr>
        <p:spPr>
          <a:xfrm>
            <a:off x="3533521" y="1252683"/>
            <a:ext cx="1005840" cy="8660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 err="1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600" dirty="0">
              <a:solidFill>
                <a:srgbClr val="22D3EE"/>
              </a:solidFill>
            </a:endParaRPr>
          </a:p>
        </p:txBody>
      </p:sp>
      <p:sp>
        <p:nvSpPr>
          <p:cNvPr id="58" name="Shape 16">
            <a:extLst>
              <a:ext uri="{FF2B5EF4-FFF2-40B4-BE49-F238E27FC236}">
                <a16:creationId xmlns:a16="http://schemas.microsoft.com/office/drawing/2014/main" id="{932F51A0-3A06-D557-1BD9-E4CC5E8C7033}"/>
              </a:ext>
            </a:extLst>
          </p:cNvPr>
          <p:cNvSpPr/>
          <p:nvPr/>
        </p:nvSpPr>
        <p:spPr>
          <a:xfrm>
            <a:off x="584200" y="2364486"/>
            <a:ext cx="1828800" cy="987552"/>
          </a:xfrm>
          <a:prstGeom prst="rect">
            <a:avLst/>
          </a:prstGeom>
          <a:solidFill>
            <a:srgbClr val="0A1422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60" name="Text 17">
            <a:extLst>
              <a:ext uri="{FF2B5EF4-FFF2-40B4-BE49-F238E27FC236}">
                <a16:creationId xmlns:a16="http://schemas.microsoft.com/office/drawing/2014/main" id="{1797FDAC-C484-F735-1443-0D80E0905ECD}"/>
              </a:ext>
            </a:extLst>
          </p:cNvPr>
          <p:cNvSpPr/>
          <p:nvPr/>
        </p:nvSpPr>
        <p:spPr>
          <a:xfrm>
            <a:off x="1292860" y="2397252"/>
            <a:ext cx="1005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GB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Alchemy</a:t>
            </a:r>
            <a:endParaRPr lang="en-US" sz="1600" dirty="0">
              <a:solidFill>
                <a:srgbClr val="22D3EE"/>
              </a:solidFill>
            </a:endParaRPr>
          </a:p>
        </p:txBody>
      </p:sp>
      <p:sp>
        <p:nvSpPr>
          <p:cNvPr id="61" name="Shape 18">
            <a:extLst>
              <a:ext uri="{FF2B5EF4-FFF2-40B4-BE49-F238E27FC236}">
                <a16:creationId xmlns:a16="http://schemas.microsoft.com/office/drawing/2014/main" id="{8B38CEEA-C18D-E9E7-2BDC-D7D8CF7247E1}"/>
              </a:ext>
            </a:extLst>
          </p:cNvPr>
          <p:cNvSpPr/>
          <p:nvPr/>
        </p:nvSpPr>
        <p:spPr>
          <a:xfrm>
            <a:off x="2716657" y="2331551"/>
            <a:ext cx="1828800" cy="1016677"/>
          </a:xfrm>
          <a:prstGeom prst="rect">
            <a:avLst/>
          </a:prstGeom>
          <a:solidFill>
            <a:srgbClr val="0A1422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63" name="Text 19">
            <a:extLst>
              <a:ext uri="{FF2B5EF4-FFF2-40B4-BE49-F238E27FC236}">
                <a16:creationId xmlns:a16="http://schemas.microsoft.com/office/drawing/2014/main" id="{7E279F1A-B84E-5FFC-E8E8-54B7D81429E1}"/>
              </a:ext>
            </a:extLst>
          </p:cNvPr>
          <p:cNvSpPr/>
          <p:nvPr/>
        </p:nvSpPr>
        <p:spPr>
          <a:xfrm>
            <a:off x="3461893" y="2412940"/>
            <a:ext cx="1010412" cy="862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 err="1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1600" dirty="0">
              <a:solidFill>
                <a:srgbClr val="22D3EE"/>
              </a:solidFill>
            </a:endParaRPr>
          </a:p>
        </p:txBody>
      </p:sp>
      <p:sp>
        <p:nvSpPr>
          <p:cNvPr id="2048" name="Shape 20">
            <a:extLst>
              <a:ext uri="{FF2B5EF4-FFF2-40B4-BE49-F238E27FC236}">
                <a16:creationId xmlns:a16="http://schemas.microsoft.com/office/drawing/2014/main" id="{5AF990CB-A249-6493-7A6E-C5E91DE521CE}"/>
              </a:ext>
            </a:extLst>
          </p:cNvPr>
          <p:cNvSpPr/>
          <p:nvPr/>
        </p:nvSpPr>
        <p:spPr>
          <a:xfrm>
            <a:off x="598678" y="3534918"/>
            <a:ext cx="1828800" cy="987552"/>
          </a:xfrm>
          <a:prstGeom prst="rect">
            <a:avLst/>
          </a:prstGeom>
          <a:solidFill>
            <a:srgbClr val="0A1422"/>
          </a:solidFill>
          <a:ln w="12700">
            <a:solidFill>
              <a:srgbClr val="1C2A40"/>
            </a:solidFill>
            <a:prstDash val="solid"/>
          </a:ln>
        </p:spPr>
      </p:sp>
      <p:pic>
        <p:nvPicPr>
          <p:cNvPr id="2049" name="Image 6">
            <a:extLst>
              <a:ext uri="{FF2B5EF4-FFF2-40B4-BE49-F238E27FC236}">
                <a16:creationId xmlns:a16="http://schemas.microsoft.com/office/drawing/2014/main" id="{BDFB372E-8A28-BAF1-1566-943C3A3E7FA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21360" y="3759708"/>
            <a:ext cx="530352" cy="53035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sp>
        <p:nvSpPr>
          <p:cNvPr id="2051" name="Text 21">
            <a:extLst>
              <a:ext uri="{FF2B5EF4-FFF2-40B4-BE49-F238E27FC236}">
                <a16:creationId xmlns:a16="http://schemas.microsoft.com/office/drawing/2014/main" id="{AAA863F1-0D91-4988-C94A-729DDAA0BAE1}"/>
              </a:ext>
            </a:extLst>
          </p:cNvPr>
          <p:cNvSpPr/>
          <p:nvPr/>
        </p:nvSpPr>
        <p:spPr>
          <a:xfrm>
            <a:off x="1291844" y="3750564"/>
            <a:ext cx="1005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</a:t>
            </a:r>
            <a:r>
              <a:rPr lang="ro-RO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endParaRPr lang="en-US" sz="1600" dirty="0">
              <a:solidFill>
                <a:srgbClr val="22D3EE"/>
              </a:solidFill>
            </a:endParaRPr>
          </a:p>
        </p:txBody>
      </p:sp>
      <p:sp>
        <p:nvSpPr>
          <p:cNvPr id="2053" name="Shape 22">
            <a:extLst>
              <a:ext uri="{FF2B5EF4-FFF2-40B4-BE49-F238E27FC236}">
                <a16:creationId xmlns:a16="http://schemas.microsoft.com/office/drawing/2014/main" id="{BFC7F6A8-EABB-D56E-20B2-64CF87AF363F}"/>
              </a:ext>
            </a:extLst>
          </p:cNvPr>
          <p:cNvSpPr/>
          <p:nvPr/>
        </p:nvSpPr>
        <p:spPr>
          <a:xfrm>
            <a:off x="2695829" y="3505793"/>
            <a:ext cx="1828800" cy="1016677"/>
          </a:xfrm>
          <a:prstGeom prst="rect">
            <a:avLst/>
          </a:prstGeom>
          <a:solidFill>
            <a:srgbClr val="0A1422"/>
          </a:solidFill>
          <a:ln w="12700">
            <a:solidFill>
              <a:srgbClr val="1C2A40"/>
            </a:solidFill>
            <a:prstDash val="solid"/>
          </a:ln>
        </p:spPr>
      </p:sp>
      <p:pic>
        <p:nvPicPr>
          <p:cNvPr id="2055" name="Image 7">
            <a:extLst>
              <a:ext uri="{FF2B5EF4-FFF2-40B4-BE49-F238E27FC236}">
                <a16:creationId xmlns:a16="http://schemas.microsoft.com/office/drawing/2014/main" id="{9333A8F7-A857-4B02-C52E-97FB17F15AC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2862961" y="3744067"/>
            <a:ext cx="530352" cy="545993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sp>
        <p:nvSpPr>
          <p:cNvPr id="2056" name="Text 23">
            <a:extLst>
              <a:ext uri="{FF2B5EF4-FFF2-40B4-BE49-F238E27FC236}">
                <a16:creationId xmlns:a16="http://schemas.microsoft.com/office/drawing/2014/main" id="{B7CEFF24-53D6-BC4C-00F3-819D0D79E711}"/>
              </a:ext>
            </a:extLst>
          </p:cNvPr>
          <p:cNvSpPr/>
          <p:nvPr/>
        </p:nvSpPr>
        <p:spPr>
          <a:xfrm>
            <a:off x="3466465" y="3579450"/>
            <a:ext cx="1005840" cy="8660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600" dirty="0">
              <a:solidFill>
                <a:srgbClr val="22D3EE"/>
              </a:solidFill>
            </a:endParaRPr>
          </a:p>
        </p:txBody>
      </p:sp>
      <p:pic>
        <p:nvPicPr>
          <p:cNvPr id="2062" name="Image 4">
            <a:extLst>
              <a:ext uri="{FF2B5EF4-FFF2-40B4-BE49-F238E27FC236}">
                <a16:creationId xmlns:a16="http://schemas.microsoft.com/office/drawing/2014/main" id="{AC165639-947E-F0ED-52AE-67208EE3F551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907280" y="2570988"/>
            <a:ext cx="521208" cy="53035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sp>
        <p:nvSpPr>
          <p:cNvPr id="2066" name="Shape 12">
            <a:extLst>
              <a:ext uri="{FF2B5EF4-FFF2-40B4-BE49-F238E27FC236}">
                <a16:creationId xmlns:a16="http://schemas.microsoft.com/office/drawing/2014/main" id="{E069FB6F-78CA-A0CF-3A6B-9EC9DC418023}"/>
              </a:ext>
            </a:extLst>
          </p:cNvPr>
          <p:cNvSpPr/>
          <p:nvPr/>
        </p:nvSpPr>
        <p:spPr>
          <a:xfrm>
            <a:off x="6906133" y="1190244"/>
            <a:ext cx="1828800" cy="987552"/>
          </a:xfrm>
          <a:prstGeom prst="rect">
            <a:avLst/>
          </a:prstGeom>
          <a:solidFill>
            <a:srgbClr val="0A1422"/>
          </a:solidFill>
          <a:ln w="12700">
            <a:solidFill>
              <a:srgbClr val="1C2A40"/>
            </a:solidFill>
            <a:prstDash val="solid"/>
          </a:ln>
        </p:spPr>
        <p:txBody>
          <a:bodyPr/>
          <a:lstStyle/>
          <a:p>
            <a:endParaRPr lang="en-GB" sz="1600" dirty="0">
              <a:solidFill>
                <a:srgbClr val="22D3EE"/>
              </a:solidFill>
            </a:endParaRPr>
          </a:p>
        </p:txBody>
      </p:sp>
      <p:sp>
        <p:nvSpPr>
          <p:cNvPr id="2068" name="Text 13">
            <a:extLst>
              <a:ext uri="{FF2B5EF4-FFF2-40B4-BE49-F238E27FC236}">
                <a16:creationId xmlns:a16="http://schemas.microsoft.com/office/drawing/2014/main" id="{C82241CC-74A1-6044-E75E-69A944A428F6}"/>
              </a:ext>
            </a:extLst>
          </p:cNvPr>
          <p:cNvSpPr/>
          <p:nvPr/>
        </p:nvSpPr>
        <p:spPr>
          <a:xfrm>
            <a:off x="7678293" y="1211914"/>
            <a:ext cx="1005840" cy="8023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>
              <a:solidFill>
                <a:srgbClr val="22D3EE"/>
              </a:solidFill>
            </a:endParaRPr>
          </a:p>
        </p:txBody>
      </p:sp>
      <p:sp>
        <p:nvSpPr>
          <p:cNvPr id="2069" name="Text 15">
            <a:extLst>
              <a:ext uri="{FF2B5EF4-FFF2-40B4-BE49-F238E27FC236}">
                <a16:creationId xmlns:a16="http://schemas.microsoft.com/office/drawing/2014/main" id="{617C5D30-96E3-82DE-DF1F-5AE0D3844920}"/>
              </a:ext>
            </a:extLst>
          </p:cNvPr>
          <p:cNvSpPr/>
          <p:nvPr/>
        </p:nvSpPr>
        <p:spPr>
          <a:xfrm>
            <a:off x="7557643" y="1274779"/>
            <a:ext cx="118313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</a:t>
            </a:r>
            <a:endParaRPr lang="en-US" sz="1600" dirty="0">
              <a:solidFill>
                <a:srgbClr val="22D3EE"/>
              </a:solidFill>
            </a:endParaRPr>
          </a:p>
        </p:txBody>
      </p:sp>
      <p:sp>
        <p:nvSpPr>
          <p:cNvPr id="2070" name="Shape 16">
            <a:extLst>
              <a:ext uri="{FF2B5EF4-FFF2-40B4-BE49-F238E27FC236}">
                <a16:creationId xmlns:a16="http://schemas.microsoft.com/office/drawing/2014/main" id="{53807BE9-CEB5-E573-1BD3-E12B34A845AF}"/>
              </a:ext>
            </a:extLst>
          </p:cNvPr>
          <p:cNvSpPr/>
          <p:nvPr/>
        </p:nvSpPr>
        <p:spPr>
          <a:xfrm>
            <a:off x="6896481" y="2372059"/>
            <a:ext cx="1828800" cy="987552"/>
          </a:xfrm>
          <a:prstGeom prst="rect">
            <a:avLst/>
          </a:prstGeom>
          <a:solidFill>
            <a:srgbClr val="0A1422"/>
          </a:solidFill>
          <a:ln w="12700">
            <a:solidFill>
              <a:srgbClr val="1C2A40"/>
            </a:solidFill>
            <a:prstDash val="solid"/>
          </a:ln>
        </p:spPr>
        <p:txBody>
          <a:bodyPr/>
          <a:lstStyle/>
          <a:p>
            <a:endParaRPr lang="en-GB" sz="1600">
              <a:solidFill>
                <a:srgbClr val="22D3EE"/>
              </a:solidFill>
            </a:endParaRPr>
          </a:p>
        </p:txBody>
      </p:sp>
      <p:sp>
        <p:nvSpPr>
          <p:cNvPr id="2071" name="Text 17">
            <a:extLst>
              <a:ext uri="{FF2B5EF4-FFF2-40B4-BE49-F238E27FC236}">
                <a16:creationId xmlns:a16="http://schemas.microsoft.com/office/drawing/2014/main" id="{1A951CCA-4C52-5FF7-0A7E-623E9564DCB6}"/>
              </a:ext>
            </a:extLst>
          </p:cNvPr>
          <p:cNvSpPr/>
          <p:nvPr/>
        </p:nvSpPr>
        <p:spPr>
          <a:xfrm>
            <a:off x="7646289" y="2445211"/>
            <a:ext cx="1005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600" dirty="0">
              <a:solidFill>
                <a:srgbClr val="22D3EE"/>
              </a:solidFill>
            </a:endParaRPr>
          </a:p>
        </p:txBody>
      </p:sp>
      <p:sp>
        <p:nvSpPr>
          <p:cNvPr id="2072" name="Text 19">
            <a:extLst>
              <a:ext uri="{FF2B5EF4-FFF2-40B4-BE49-F238E27FC236}">
                <a16:creationId xmlns:a16="http://schemas.microsoft.com/office/drawing/2014/main" id="{A6F73C39-7EA7-70E2-5169-4ED8A06EE290}"/>
              </a:ext>
            </a:extLst>
          </p:cNvPr>
          <p:cNvSpPr/>
          <p:nvPr/>
        </p:nvSpPr>
        <p:spPr>
          <a:xfrm>
            <a:off x="7617841" y="2463499"/>
            <a:ext cx="1005840" cy="760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600" dirty="0">
              <a:solidFill>
                <a:srgbClr val="22D3EE"/>
              </a:solidFill>
            </a:endParaRPr>
          </a:p>
        </p:txBody>
      </p:sp>
      <p:sp>
        <p:nvSpPr>
          <p:cNvPr id="2073" name="Shape 20">
            <a:extLst>
              <a:ext uri="{FF2B5EF4-FFF2-40B4-BE49-F238E27FC236}">
                <a16:creationId xmlns:a16="http://schemas.microsoft.com/office/drawing/2014/main" id="{85D8D88C-E26B-5017-E0FB-ACF898D16D14}"/>
              </a:ext>
            </a:extLst>
          </p:cNvPr>
          <p:cNvSpPr/>
          <p:nvPr/>
        </p:nvSpPr>
        <p:spPr>
          <a:xfrm>
            <a:off x="6896481" y="3542491"/>
            <a:ext cx="1828800" cy="987552"/>
          </a:xfrm>
          <a:prstGeom prst="rect">
            <a:avLst/>
          </a:prstGeom>
          <a:solidFill>
            <a:srgbClr val="0A1422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2075" name="Text 21">
            <a:extLst>
              <a:ext uri="{FF2B5EF4-FFF2-40B4-BE49-F238E27FC236}">
                <a16:creationId xmlns:a16="http://schemas.microsoft.com/office/drawing/2014/main" id="{1E70DD2C-D394-4B8C-ACA9-1B6876AEBABA}"/>
              </a:ext>
            </a:extLst>
          </p:cNvPr>
          <p:cNvSpPr/>
          <p:nvPr/>
        </p:nvSpPr>
        <p:spPr>
          <a:xfrm>
            <a:off x="7646289" y="3615643"/>
            <a:ext cx="1005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22D3EE"/>
                </a:solidFill>
              </a:rPr>
              <a:t>Hostinger</a:t>
            </a:r>
            <a:endParaRPr lang="en-US" sz="1600" b="1" dirty="0">
              <a:solidFill>
                <a:srgbClr val="22D3EE"/>
              </a:solidFill>
            </a:endParaRPr>
          </a:p>
        </p:txBody>
      </p:sp>
      <p:pic>
        <p:nvPicPr>
          <p:cNvPr id="2079" name="Image 6">
            <a:extLst>
              <a:ext uri="{FF2B5EF4-FFF2-40B4-BE49-F238E27FC236}">
                <a16:creationId xmlns:a16="http://schemas.microsoft.com/office/drawing/2014/main" id="{673D1671-0D80-5CBF-C11E-C64D2C7FFE7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023608" y="1430227"/>
            <a:ext cx="530352" cy="53035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pic>
        <p:nvPicPr>
          <p:cNvPr id="2084" name="Image 6">
            <a:extLst>
              <a:ext uri="{FF2B5EF4-FFF2-40B4-BE49-F238E27FC236}">
                <a16:creationId xmlns:a16="http://schemas.microsoft.com/office/drawing/2014/main" id="{64721457-E435-86DA-4E2E-8944F25D29F5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2862961" y="2593043"/>
            <a:ext cx="530352" cy="53035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pic>
        <p:nvPicPr>
          <p:cNvPr id="2085" name="Image 3">
            <a:extLst>
              <a:ext uri="{FF2B5EF4-FFF2-40B4-BE49-F238E27FC236}">
                <a16:creationId xmlns:a16="http://schemas.microsoft.com/office/drawing/2014/main" id="{6C468462-F89D-6672-BA84-921A988F90B0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661" r="661"/>
          <a:stretch/>
        </p:blipFill>
        <p:spPr>
          <a:xfrm>
            <a:off x="719582" y="2589488"/>
            <a:ext cx="530352" cy="53746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pic>
        <p:nvPicPr>
          <p:cNvPr id="2061" name="Image 3">
            <a:extLst>
              <a:ext uri="{FF2B5EF4-FFF2-40B4-BE49-F238E27FC236}">
                <a16:creationId xmlns:a16="http://schemas.microsoft.com/office/drawing/2014/main" id="{A70907F6-76B3-6B37-B0E3-590E751CBD44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7041896" y="3796284"/>
            <a:ext cx="493776" cy="493776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pic>
        <p:nvPicPr>
          <p:cNvPr id="2063" name="Image 2">
            <a:extLst>
              <a:ext uri="{FF2B5EF4-FFF2-40B4-BE49-F238E27FC236}">
                <a16:creationId xmlns:a16="http://schemas.microsoft.com/office/drawing/2014/main" id="{680438E4-E54C-6334-E6C7-C031E5E9070B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7041896" y="2589488"/>
            <a:ext cx="493776" cy="508339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33C32689-1459-AE70-E08F-B43D86411CA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0657" y="118827"/>
            <a:ext cx="8229600" cy="914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399" y="97078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GB" sz="10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MAPPING AND R</a:t>
            </a:r>
            <a:r>
              <a:rPr lang="ro-RO" sz="10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ELAT</a:t>
            </a:r>
            <a:r>
              <a:rPr lang="en-GB" sz="10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IONAL LOGIC</a:t>
            </a:r>
            <a:endParaRPr lang="en-US" sz="1000" b="1" dirty="0"/>
          </a:p>
        </p:txBody>
      </p:sp>
      <p:pic>
        <p:nvPicPr>
          <p:cNvPr id="58" name="Imagine 57">
            <a:extLst>
              <a:ext uri="{FF2B5EF4-FFF2-40B4-BE49-F238E27FC236}">
                <a16:creationId xmlns:a16="http://schemas.microsoft.com/office/drawing/2014/main" id="{C03FC026-2286-61AA-F706-208082BDFF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63" y="1225296"/>
            <a:ext cx="8361273" cy="3535989"/>
          </a:xfrm>
          <a:prstGeom prst="rect">
            <a:avLst/>
          </a:prstGeom>
        </p:spPr>
      </p:pic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56FCE334-CBB9-ED97-428D-4EEC04A710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" y="54864"/>
            <a:ext cx="8229600" cy="914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96926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documentation via </a:t>
            </a:r>
            <a:r>
              <a:rPr lang="en-US" sz="1200" b="1" kern="0" spc="200" dirty="0" err="1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</a:t>
            </a: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(Swagger) · Accessible at /docs</a:t>
            </a:r>
            <a:endParaRPr lang="en-US" sz="1200" b="1" dirty="0"/>
          </a:p>
        </p:txBody>
      </p:sp>
      <p:sp>
        <p:nvSpPr>
          <p:cNvPr id="4" name="Shape 1"/>
          <p:cNvSpPr/>
          <p:nvPr/>
        </p:nvSpPr>
        <p:spPr>
          <a:xfrm>
            <a:off x="320040" y="1353312"/>
            <a:ext cx="4206240" cy="1572768"/>
          </a:xfrm>
          <a:prstGeom prst="rect">
            <a:avLst/>
          </a:prstGeom>
          <a:solidFill>
            <a:srgbClr val="0E1628"/>
          </a:solidFill>
          <a:ln w="12700">
            <a:solidFill>
              <a:srgbClr val="1C2A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>
            <a:off x="320040" y="1353312"/>
            <a:ext cx="54864" cy="15727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21208" y="148132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21208" y="188366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</a:t>
            </a:r>
            <a:r>
              <a:rPr lang="en-GB" sz="1100" dirty="0" err="1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</a:t>
            </a:r>
            <a:r>
              <a:rPr lang="en-GB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management - SKU, name, price, stock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34536" y="2335530"/>
            <a:ext cx="6120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61AFF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3504" y="2335530"/>
            <a:ext cx="643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1AF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50" dirty="0">
              <a:solidFill>
                <a:srgbClr val="61AFFE"/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1392840" y="2332482"/>
            <a:ext cx="599256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49CC9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92840" y="2332482"/>
            <a:ext cx="599256" cy="347472"/>
          </a:xfrm>
          <a:prstGeom prst="rect">
            <a:avLst/>
          </a:prstGeom>
          <a:noFill/>
          <a:ln>
            <a:solidFill>
              <a:srgbClr val="49CC9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9CC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50" dirty="0">
              <a:solidFill>
                <a:srgbClr val="49CC90"/>
              </a:solidFill>
            </a:endParaRPr>
          </a:p>
        </p:txBody>
      </p:sp>
      <p:sp>
        <p:nvSpPr>
          <p:cNvPr id="12" name="Shape 9"/>
          <p:cNvSpPr/>
          <p:nvPr/>
        </p:nvSpPr>
        <p:spPr>
          <a:xfrm>
            <a:off x="3717540" y="2332482"/>
            <a:ext cx="6120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FCA13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717540" y="2332482"/>
            <a:ext cx="612000" cy="347472"/>
          </a:xfrm>
          <a:prstGeom prst="rect">
            <a:avLst/>
          </a:prstGeom>
          <a:noFill/>
          <a:ln>
            <a:solidFill>
              <a:srgbClr val="FCA13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962836" y="2335530"/>
            <a:ext cx="6120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62836" y="2335530"/>
            <a:ext cx="61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754880" y="1353312"/>
            <a:ext cx="4206240" cy="1572768"/>
          </a:xfrm>
          <a:prstGeom prst="rect">
            <a:avLst/>
          </a:prstGeom>
          <a:solidFill>
            <a:srgbClr val="0E1628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54880" y="1353312"/>
            <a:ext cx="54864" cy="15727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56048" y="148132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/warehouses</a:t>
            </a:r>
            <a:endParaRPr lang="en-US" sz="1800" dirty="0">
              <a:solidFill>
                <a:srgbClr val="F59E0B"/>
              </a:solidFill>
            </a:endParaRPr>
          </a:p>
        </p:txBody>
      </p:sp>
      <p:sp>
        <p:nvSpPr>
          <p:cNvPr id="19" name="Text 16"/>
          <p:cNvSpPr/>
          <p:nvPr/>
        </p:nvSpPr>
        <p:spPr>
          <a:xfrm>
            <a:off x="4956048" y="188366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administration - location and capacity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321564" y="3108960"/>
            <a:ext cx="4206240" cy="1572768"/>
          </a:xfrm>
          <a:prstGeom prst="rect">
            <a:avLst/>
          </a:prstGeom>
          <a:solidFill>
            <a:srgbClr val="0E1628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20040" y="3108960"/>
            <a:ext cx="54864" cy="157276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21208" y="323697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/suppliers</a:t>
            </a:r>
            <a:endParaRPr lang="en-US" sz="1800" dirty="0">
              <a:solidFill>
                <a:srgbClr val="22D3EE"/>
              </a:solidFill>
            </a:endParaRPr>
          </a:p>
        </p:txBody>
      </p:sp>
      <p:sp>
        <p:nvSpPr>
          <p:cNvPr id="31" name="Text 28"/>
          <p:cNvSpPr/>
          <p:nvPr/>
        </p:nvSpPr>
        <p:spPr>
          <a:xfrm>
            <a:off x="521208" y="363931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database - contact and commercial details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754880" y="3108960"/>
            <a:ext cx="4206240" cy="1572768"/>
          </a:xfrm>
          <a:prstGeom prst="rect">
            <a:avLst/>
          </a:prstGeom>
          <a:solidFill>
            <a:srgbClr val="0E1628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754880" y="3108960"/>
            <a:ext cx="54864" cy="15727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956048" y="323697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ro-RO" b="1" dirty="0" err="1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inventory</a:t>
            </a:r>
            <a:endParaRPr lang="en-US" sz="1800" dirty="0">
              <a:solidFill>
                <a:srgbClr val="6366F1"/>
              </a:solidFill>
            </a:endParaRPr>
          </a:p>
        </p:txBody>
      </p:sp>
      <p:sp>
        <p:nvSpPr>
          <p:cNvPr id="43" name="Text 40"/>
          <p:cNvSpPr/>
          <p:nvPr/>
        </p:nvSpPr>
        <p:spPr>
          <a:xfrm>
            <a:off x="4956048" y="363931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transfer and quantity adjustment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956048" y="4114800"/>
            <a:ext cx="82296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956048" y="411480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50" dirty="0">
              <a:solidFill>
                <a:srgbClr val="22D3EE"/>
              </a:solidFill>
            </a:endParaRPr>
          </a:p>
        </p:txBody>
      </p:sp>
      <p:sp>
        <p:nvSpPr>
          <p:cNvPr id="46" name="Shape 43"/>
          <p:cNvSpPr/>
          <p:nvPr/>
        </p:nvSpPr>
        <p:spPr>
          <a:xfrm>
            <a:off x="5943600" y="4114800"/>
            <a:ext cx="82296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943600" y="4114800"/>
            <a:ext cx="822960" cy="347472"/>
          </a:xfrm>
          <a:prstGeom prst="rect">
            <a:avLst/>
          </a:prstGeom>
          <a:noFill/>
          <a:ln>
            <a:solidFill>
              <a:srgbClr val="49CC9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9CC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50" dirty="0">
              <a:solidFill>
                <a:srgbClr val="49CC90"/>
              </a:solidFill>
            </a:endParaRPr>
          </a:p>
        </p:txBody>
      </p:sp>
      <p:sp>
        <p:nvSpPr>
          <p:cNvPr id="49" name="Text 46"/>
          <p:cNvSpPr/>
          <p:nvPr/>
        </p:nvSpPr>
        <p:spPr>
          <a:xfrm>
            <a:off x="6931152" y="411480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50" name="Shape 11">
            <a:extLst>
              <a:ext uri="{FF2B5EF4-FFF2-40B4-BE49-F238E27FC236}">
                <a16:creationId xmlns:a16="http://schemas.microsoft.com/office/drawing/2014/main" id="{E3A2490C-0DCB-FB56-E95E-A2F30514B011}"/>
              </a:ext>
            </a:extLst>
          </p:cNvPr>
          <p:cNvSpPr/>
          <p:nvPr/>
        </p:nvSpPr>
        <p:spPr>
          <a:xfrm>
            <a:off x="2171466" y="2332482"/>
            <a:ext cx="6120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50E3C2"/>
            </a:solidFill>
            <a:prstDash val="solid"/>
          </a:ln>
        </p:spPr>
        <p:txBody>
          <a:bodyPr/>
          <a:lstStyle/>
          <a:p>
            <a:endParaRPr lang="en-GB" dirty="0">
              <a:solidFill>
                <a:srgbClr val="50E3C2"/>
              </a:solidFill>
            </a:endParaRPr>
          </a:p>
        </p:txBody>
      </p:sp>
      <p:sp>
        <p:nvSpPr>
          <p:cNvPr id="51" name="Text 12">
            <a:extLst>
              <a:ext uri="{FF2B5EF4-FFF2-40B4-BE49-F238E27FC236}">
                <a16:creationId xmlns:a16="http://schemas.microsoft.com/office/drawing/2014/main" id="{FFC84D5E-DFFC-12F4-D5EC-227D6924878E}"/>
              </a:ext>
            </a:extLst>
          </p:cNvPr>
          <p:cNvSpPr/>
          <p:nvPr/>
        </p:nvSpPr>
        <p:spPr>
          <a:xfrm>
            <a:off x="2171466" y="2335530"/>
            <a:ext cx="612000" cy="347472"/>
          </a:xfrm>
          <a:prstGeom prst="rect">
            <a:avLst/>
          </a:prstGeom>
          <a:noFill/>
          <a:ln>
            <a:solidFill>
              <a:srgbClr val="50E3C2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o-RO" sz="950" b="1" dirty="0">
                <a:solidFill>
                  <a:srgbClr val="50E3C2"/>
                </a:solidFill>
                <a:latin typeface="Consolas" pitchFamily="34" charset="0"/>
              </a:rPr>
              <a:t>PATCH</a:t>
            </a:r>
            <a:endParaRPr lang="en-US" sz="950" dirty="0">
              <a:solidFill>
                <a:srgbClr val="50E3C2"/>
              </a:solidFill>
            </a:endParaRPr>
          </a:p>
        </p:txBody>
      </p:sp>
      <p:sp>
        <p:nvSpPr>
          <p:cNvPr id="52" name="Shape 5">
            <a:extLst>
              <a:ext uri="{FF2B5EF4-FFF2-40B4-BE49-F238E27FC236}">
                <a16:creationId xmlns:a16="http://schemas.microsoft.com/office/drawing/2014/main" id="{DACB1EB9-4767-35A9-B65D-A9C8033AAA9D}"/>
              </a:ext>
            </a:extLst>
          </p:cNvPr>
          <p:cNvSpPr/>
          <p:nvPr/>
        </p:nvSpPr>
        <p:spPr>
          <a:xfrm>
            <a:off x="4987080" y="2335530"/>
            <a:ext cx="6120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3" name="Text 6">
            <a:extLst>
              <a:ext uri="{FF2B5EF4-FFF2-40B4-BE49-F238E27FC236}">
                <a16:creationId xmlns:a16="http://schemas.microsoft.com/office/drawing/2014/main" id="{FAE4DFC4-ACBD-9F95-4E40-2D5F1F01E2A2}"/>
              </a:ext>
            </a:extLst>
          </p:cNvPr>
          <p:cNvSpPr/>
          <p:nvPr/>
        </p:nvSpPr>
        <p:spPr>
          <a:xfrm>
            <a:off x="4956048" y="2335530"/>
            <a:ext cx="643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1AF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50" dirty="0">
              <a:solidFill>
                <a:srgbClr val="61AFFE"/>
              </a:solidFill>
            </a:endParaRPr>
          </a:p>
        </p:txBody>
      </p:sp>
      <p:sp>
        <p:nvSpPr>
          <p:cNvPr id="54" name="Shape 7">
            <a:extLst>
              <a:ext uri="{FF2B5EF4-FFF2-40B4-BE49-F238E27FC236}">
                <a16:creationId xmlns:a16="http://schemas.microsoft.com/office/drawing/2014/main" id="{E8AFCB9B-7B61-14A5-F503-B10CB4562D33}"/>
              </a:ext>
            </a:extLst>
          </p:cNvPr>
          <p:cNvSpPr/>
          <p:nvPr/>
        </p:nvSpPr>
        <p:spPr>
          <a:xfrm>
            <a:off x="5745384" y="2332482"/>
            <a:ext cx="599256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49CC90"/>
            </a:solidFill>
            <a:prstDash val="solid"/>
          </a:ln>
        </p:spPr>
      </p:sp>
      <p:sp>
        <p:nvSpPr>
          <p:cNvPr id="55" name="Text 8">
            <a:extLst>
              <a:ext uri="{FF2B5EF4-FFF2-40B4-BE49-F238E27FC236}">
                <a16:creationId xmlns:a16="http://schemas.microsoft.com/office/drawing/2014/main" id="{783EF420-72AA-0752-067D-084B50FCA32D}"/>
              </a:ext>
            </a:extLst>
          </p:cNvPr>
          <p:cNvSpPr/>
          <p:nvPr/>
        </p:nvSpPr>
        <p:spPr>
          <a:xfrm>
            <a:off x="5745384" y="2332482"/>
            <a:ext cx="599256" cy="347472"/>
          </a:xfrm>
          <a:prstGeom prst="rect">
            <a:avLst/>
          </a:prstGeom>
          <a:noFill/>
          <a:ln>
            <a:solidFill>
              <a:srgbClr val="49CC9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9CC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50" dirty="0">
              <a:solidFill>
                <a:srgbClr val="49CC90"/>
              </a:solidFill>
            </a:endParaRPr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9C5DC9B2-FF68-9877-054B-5E38C161AEC7}"/>
              </a:ext>
            </a:extLst>
          </p:cNvPr>
          <p:cNvSpPr/>
          <p:nvPr/>
        </p:nvSpPr>
        <p:spPr>
          <a:xfrm>
            <a:off x="8070084" y="2332482"/>
            <a:ext cx="6120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FCA130"/>
            </a:solidFill>
            <a:prstDash val="solid"/>
          </a:ln>
        </p:spPr>
      </p:sp>
      <p:sp>
        <p:nvSpPr>
          <p:cNvPr id="57" name="Text 10">
            <a:extLst>
              <a:ext uri="{FF2B5EF4-FFF2-40B4-BE49-F238E27FC236}">
                <a16:creationId xmlns:a16="http://schemas.microsoft.com/office/drawing/2014/main" id="{6F19F862-9704-C64A-82B5-1BBA34162C29}"/>
              </a:ext>
            </a:extLst>
          </p:cNvPr>
          <p:cNvSpPr/>
          <p:nvPr/>
        </p:nvSpPr>
        <p:spPr>
          <a:xfrm>
            <a:off x="8070084" y="2332482"/>
            <a:ext cx="612000" cy="347472"/>
          </a:xfrm>
          <a:prstGeom prst="rect">
            <a:avLst/>
          </a:prstGeom>
          <a:noFill/>
          <a:ln>
            <a:solidFill>
              <a:srgbClr val="FCA13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endParaRPr lang="en-US" sz="950" dirty="0"/>
          </a:p>
        </p:txBody>
      </p:sp>
      <p:sp>
        <p:nvSpPr>
          <p:cNvPr id="58" name="Shape 11">
            <a:extLst>
              <a:ext uri="{FF2B5EF4-FFF2-40B4-BE49-F238E27FC236}">
                <a16:creationId xmlns:a16="http://schemas.microsoft.com/office/drawing/2014/main" id="{54182064-4514-9D5E-C1EA-3C9E36E3A6CB}"/>
              </a:ext>
            </a:extLst>
          </p:cNvPr>
          <p:cNvSpPr/>
          <p:nvPr/>
        </p:nvSpPr>
        <p:spPr>
          <a:xfrm>
            <a:off x="7315380" y="2335530"/>
            <a:ext cx="6120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9" name="Text 12">
            <a:extLst>
              <a:ext uri="{FF2B5EF4-FFF2-40B4-BE49-F238E27FC236}">
                <a16:creationId xmlns:a16="http://schemas.microsoft.com/office/drawing/2014/main" id="{27E21C72-ABA1-71AB-8236-89E60E4D62D1}"/>
              </a:ext>
            </a:extLst>
          </p:cNvPr>
          <p:cNvSpPr/>
          <p:nvPr/>
        </p:nvSpPr>
        <p:spPr>
          <a:xfrm>
            <a:off x="7315380" y="2335530"/>
            <a:ext cx="61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950" dirty="0"/>
          </a:p>
        </p:txBody>
      </p:sp>
      <p:sp>
        <p:nvSpPr>
          <p:cNvPr id="60" name="Shape 11">
            <a:extLst>
              <a:ext uri="{FF2B5EF4-FFF2-40B4-BE49-F238E27FC236}">
                <a16:creationId xmlns:a16="http://schemas.microsoft.com/office/drawing/2014/main" id="{41CB4892-1674-5921-B306-124282522AA9}"/>
              </a:ext>
            </a:extLst>
          </p:cNvPr>
          <p:cNvSpPr/>
          <p:nvPr/>
        </p:nvSpPr>
        <p:spPr>
          <a:xfrm>
            <a:off x="6506640" y="2335530"/>
            <a:ext cx="6120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50E3C2"/>
            </a:solidFill>
            <a:prstDash val="solid"/>
          </a:ln>
        </p:spPr>
        <p:txBody>
          <a:bodyPr/>
          <a:lstStyle/>
          <a:p>
            <a:endParaRPr lang="en-GB" dirty="0">
              <a:solidFill>
                <a:srgbClr val="50E3C2"/>
              </a:solidFill>
            </a:endParaRPr>
          </a:p>
        </p:txBody>
      </p:sp>
      <p:sp>
        <p:nvSpPr>
          <p:cNvPr id="61" name="Text 12">
            <a:extLst>
              <a:ext uri="{FF2B5EF4-FFF2-40B4-BE49-F238E27FC236}">
                <a16:creationId xmlns:a16="http://schemas.microsoft.com/office/drawing/2014/main" id="{091E5F37-0CDF-D0FD-AADD-5A931B8668D0}"/>
              </a:ext>
            </a:extLst>
          </p:cNvPr>
          <p:cNvSpPr/>
          <p:nvPr/>
        </p:nvSpPr>
        <p:spPr>
          <a:xfrm>
            <a:off x="6506640" y="2331720"/>
            <a:ext cx="612000" cy="347472"/>
          </a:xfrm>
          <a:prstGeom prst="rect">
            <a:avLst/>
          </a:prstGeom>
          <a:noFill/>
          <a:ln>
            <a:solidFill>
              <a:srgbClr val="50E3C2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o-RO" sz="950" b="1" dirty="0">
                <a:solidFill>
                  <a:srgbClr val="50E3C2"/>
                </a:solidFill>
                <a:latin typeface="Consolas" pitchFamily="34" charset="0"/>
              </a:rPr>
              <a:t>PATCH</a:t>
            </a:r>
            <a:endParaRPr lang="en-US" sz="950" dirty="0">
              <a:solidFill>
                <a:srgbClr val="50E3C2"/>
              </a:solidFill>
            </a:endParaRPr>
          </a:p>
        </p:txBody>
      </p:sp>
      <p:sp>
        <p:nvSpPr>
          <p:cNvPr id="72" name="Shape 5">
            <a:extLst>
              <a:ext uri="{FF2B5EF4-FFF2-40B4-BE49-F238E27FC236}">
                <a16:creationId xmlns:a16="http://schemas.microsoft.com/office/drawing/2014/main" id="{BF7359CF-C644-FB62-000F-1B6B41BAEA5B}"/>
              </a:ext>
            </a:extLst>
          </p:cNvPr>
          <p:cNvSpPr/>
          <p:nvPr/>
        </p:nvSpPr>
        <p:spPr>
          <a:xfrm>
            <a:off x="634536" y="4119372"/>
            <a:ext cx="6120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61AFFE"/>
            </a:solidFill>
            <a:prstDash val="solid"/>
          </a:ln>
        </p:spPr>
      </p:sp>
      <p:sp>
        <p:nvSpPr>
          <p:cNvPr id="73" name="Text 6">
            <a:extLst>
              <a:ext uri="{FF2B5EF4-FFF2-40B4-BE49-F238E27FC236}">
                <a16:creationId xmlns:a16="http://schemas.microsoft.com/office/drawing/2014/main" id="{92449D77-3C6F-BDAF-B3F5-324C80429A80}"/>
              </a:ext>
            </a:extLst>
          </p:cNvPr>
          <p:cNvSpPr/>
          <p:nvPr/>
        </p:nvSpPr>
        <p:spPr>
          <a:xfrm>
            <a:off x="603504" y="4119372"/>
            <a:ext cx="643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1AF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50" dirty="0">
              <a:solidFill>
                <a:srgbClr val="61AFFE"/>
              </a:solidFill>
            </a:endParaRPr>
          </a:p>
        </p:txBody>
      </p:sp>
      <p:sp>
        <p:nvSpPr>
          <p:cNvPr id="74" name="Shape 7">
            <a:extLst>
              <a:ext uri="{FF2B5EF4-FFF2-40B4-BE49-F238E27FC236}">
                <a16:creationId xmlns:a16="http://schemas.microsoft.com/office/drawing/2014/main" id="{F6B3D28F-A48E-074C-7F7A-2DCFED31A291}"/>
              </a:ext>
            </a:extLst>
          </p:cNvPr>
          <p:cNvSpPr/>
          <p:nvPr/>
        </p:nvSpPr>
        <p:spPr>
          <a:xfrm>
            <a:off x="1392840" y="4116324"/>
            <a:ext cx="599256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49CC90"/>
            </a:solidFill>
            <a:prstDash val="solid"/>
          </a:ln>
        </p:spPr>
      </p:sp>
      <p:sp>
        <p:nvSpPr>
          <p:cNvPr id="75" name="Text 8">
            <a:extLst>
              <a:ext uri="{FF2B5EF4-FFF2-40B4-BE49-F238E27FC236}">
                <a16:creationId xmlns:a16="http://schemas.microsoft.com/office/drawing/2014/main" id="{8D0A5774-E89B-7D5C-53DF-34F056DDBDC8}"/>
              </a:ext>
            </a:extLst>
          </p:cNvPr>
          <p:cNvSpPr/>
          <p:nvPr/>
        </p:nvSpPr>
        <p:spPr>
          <a:xfrm>
            <a:off x="1392840" y="4116324"/>
            <a:ext cx="599256" cy="347472"/>
          </a:xfrm>
          <a:prstGeom prst="rect">
            <a:avLst/>
          </a:prstGeom>
          <a:noFill/>
          <a:ln>
            <a:solidFill>
              <a:srgbClr val="49CC9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9CC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50" dirty="0">
              <a:solidFill>
                <a:srgbClr val="49CC90"/>
              </a:solidFill>
            </a:endParaRPr>
          </a:p>
        </p:txBody>
      </p:sp>
      <p:sp>
        <p:nvSpPr>
          <p:cNvPr id="76" name="Shape 9">
            <a:extLst>
              <a:ext uri="{FF2B5EF4-FFF2-40B4-BE49-F238E27FC236}">
                <a16:creationId xmlns:a16="http://schemas.microsoft.com/office/drawing/2014/main" id="{28A3D229-CC3E-0E27-12AE-9FFBE4E25420}"/>
              </a:ext>
            </a:extLst>
          </p:cNvPr>
          <p:cNvSpPr/>
          <p:nvPr/>
        </p:nvSpPr>
        <p:spPr>
          <a:xfrm>
            <a:off x="3717540" y="4116324"/>
            <a:ext cx="6120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FCA130"/>
            </a:solidFill>
            <a:prstDash val="solid"/>
          </a:ln>
        </p:spPr>
      </p:sp>
      <p:sp>
        <p:nvSpPr>
          <p:cNvPr id="77" name="Text 10">
            <a:extLst>
              <a:ext uri="{FF2B5EF4-FFF2-40B4-BE49-F238E27FC236}">
                <a16:creationId xmlns:a16="http://schemas.microsoft.com/office/drawing/2014/main" id="{5B3C2AD5-53F7-3294-FA83-A3742DC4BA26}"/>
              </a:ext>
            </a:extLst>
          </p:cNvPr>
          <p:cNvSpPr/>
          <p:nvPr/>
        </p:nvSpPr>
        <p:spPr>
          <a:xfrm>
            <a:off x="3717540" y="4116324"/>
            <a:ext cx="612000" cy="347472"/>
          </a:xfrm>
          <a:prstGeom prst="rect">
            <a:avLst/>
          </a:prstGeom>
          <a:noFill/>
          <a:ln>
            <a:solidFill>
              <a:srgbClr val="FCA13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endParaRPr lang="en-US" sz="950" dirty="0"/>
          </a:p>
        </p:txBody>
      </p:sp>
      <p:sp>
        <p:nvSpPr>
          <p:cNvPr id="78" name="Shape 11">
            <a:extLst>
              <a:ext uri="{FF2B5EF4-FFF2-40B4-BE49-F238E27FC236}">
                <a16:creationId xmlns:a16="http://schemas.microsoft.com/office/drawing/2014/main" id="{F1A35CD4-013A-2FBF-B998-65D68C65051F}"/>
              </a:ext>
            </a:extLst>
          </p:cNvPr>
          <p:cNvSpPr/>
          <p:nvPr/>
        </p:nvSpPr>
        <p:spPr>
          <a:xfrm>
            <a:off x="2962836" y="4119372"/>
            <a:ext cx="6120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9" name="Text 12">
            <a:extLst>
              <a:ext uri="{FF2B5EF4-FFF2-40B4-BE49-F238E27FC236}">
                <a16:creationId xmlns:a16="http://schemas.microsoft.com/office/drawing/2014/main" id="{DAFC3DBB-23CA-1503-80DE-C0139F616799}"/>
              </a:ext>
            </a:extLst>
          </p:cNvPr>
          <p:cNvSpPr/>
          <p:nvPr/>
        </p:nvSpPr>
        <p:spPr>
          <a:xfrm>
            <a:off x="2962836" y="4119372"/>
            <a:ext cx="61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950" dirty="0"/>
          </a:p>
        </p:txBody>
      </p:sp>
      <p:sp>
        <p:nvSpPr>
          <p:cNvPr id="80" name="Shape 11">
            <a:extLst>
              <a:ext uri="{FF2B5EF4-FFF2-40B4-BE49-F238E27FC236}">
                <a16:creationId xmlns:a16="http://schemas.microsoft.com/office/drawing/2014/main" id="{164EB40E-6E78-862F-3B5E-5A31655EEDCB}"/>
              </a:ext>
            </a:extLst>
          </p:cNvPr>
          <p:cNvSpPr/>
          <p:nvPr/>
        </p:nvSpPr>
        <p:spPr>
          <a:xfrm>
            <a:off x="2171466" y="4116324"/>
            <a:ext cx="6120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50E3C2"/>
            </a:solidFill>
            <a:prstDash val="solid"/>
          </a:ln>
        </p:spPr>
        <p:txBody>
          <a:bodyPr/>
          <a:lstStyle/>
          <a:p>
            <a:endParaRPr lang="en-GB" dirty="0">
              <a:solidFill>
                <a:srgbClr val="50E3C2"/>
              </a:solidFill>
            </a:endParaRPr>
          </a:p>
        </p:txBody>
      </p:sp>
      <p:sp>
        <p:nvSpPr>
          <p:cNvPr id="81" name="Text 12">
            <a:extLst>
              <a:ext uri="{FF2B5EF4-FFF2-40B4-BE49-F238E27FC236}">
                <a16:creationId xmlns:a16="http://schemas.microsoft.com/office/drawing/2014/main" id="{B4AC7576-B2E9-C4A7-01BD-639AA764FC47}"/>
              </a:ext>
            </a:extLst>
          </p:cNvPr>
          <p:cNvSpPr/>
          <p:nvPr/>
        </p:nvSpPr>
        <p:spPr>
          <a:xfrm>
            <a:off x="2171466" y="4114800"/>
            <a:ext cx="612000" cy="347472"/>
          </a:xfrm>
          <a:prstGeom prst="rect">
            <a:avLst/>
          </a:prstGeom>
          <a:noFill/>
          <a:ln>
            <a:solidFill>
              <a:srgbClr val="50E3C2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o-RO" sz="950" b="1" dirty="0">
                <a:solidFill>
                  <a:srgbClr val="50E3C2"/>
                </a:solidFill>
                <a:latin typeface="Consolas" pitchFamily="34" charset="0"/>
              </a:rPr>
              <a:t>PATCH</a:t>
            </a:r>
            <a:endParaRPr lang="en-US" sz="950" dirty="0">
              <a:solidFill>
                <a:srgbClr val="50E3C2"/>
              </a:solidFill>
            </a:endParaRPr>
          </a:p>
        </p:txBody>
      </p:sp>
      <p:pic>
        <p:nvPicPr>
          <p:cNvPr id="20" name="Image 0" descr="preencoded.png">
            <a:extLst>
              <a:ext uri="{FF2B5EF4-FFF2-40B4-BE49-F238E27FC236}">
                <a16:creationId xmlns:a16="http://schemas.microsoft.com/office/drawing/2014/main" id="{77287B63-6648-5520-31A3-124A5A37F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"/>
            <a:ext cx="8229600" cy="914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62534" y="1127760"/>
            <a:ext cx="2560320" cy="1645920"/>
          </a:xfrm>
          <a:prstGeom prst="rect">
            <a:avLst/>
          </a:prstGeom>
          <a:solidFill>
            <a:srgbClr val="0E1628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045714" y="1737159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</a:rPr>
              <a:t>➔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45414" y="13106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b="1" dirty="0">
              <a:solidFill>
                <a:srgbClr val="6366F1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5414" y="15849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b="1" dirty="0">
              <a:solidFill>
                <a:srgbClr val="FFFFFF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Environment setup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5414" y="1950720"/>
            <a:ext cx="23667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endParaRPr lang="en-US" sz="1000" dirty="0">
              <a:solidFill>
                <a:srgbClr val="8B96A8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algn="just"/>
            <a:r>
              <a:rPr lang="en-GB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Establishing the project in </a:t>
            </a:r>
            <a:r>
              <a:rPr lang="en-GB" sz="1000" b="1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r>
              <a:rPr lang="en-GB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initializing the </a:t>
            </a:r>
            <a:r>
              <a:rPr lang="en-GB" sz="1000" b="1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</a:t>
            </a:r>
            <a:r>
              <a:rPr lang="en-GB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framework for scalable and asynchronous development.</a:t>
            </a:r>
            <a:endParaRPr lang="en-US" sz="1000" b="1" dirty="0"/>
          </a:p>
        </p:txBody>
      </p:sp>
      <p:sp>
        <p:nvSpPr>
          <p:cNvPr id="8" name="Shape 5"/>
          <p:cNvSpPr/>
          <p:nvPr/>
        </p:nvSpPr>
        <p:spPr>
          <a:xfrm>
            <a:off x="3342894" y="1127760"/>
            <a:ext cx="2560320" cy="1645920"/>
          </a:xfrm>
          <a:prstGeom prst="rect">
            <a:avLst/>
          </a:prstGeom>
          <a:solidFill>
            <a:srgbClr val="0E1628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26074" y="1744579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</a:rPr>
              <a:t>➔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3525774" y="1264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b="1" dirty="0">
              <a:solidFill>
                <a:srgbClr val="22D3E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525774" y="15849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b="1" dirty="0">
              <a:solidFill>
                <a:srgbClr val="FFFFFF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development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525774" y="19507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endParaRPr lang="en-US" sz="1000" dirty="0">
              <a:solidFill>
                <a:srgbClr val="8B96A8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algn="just"/>
            <a:r>
              <a:rPr lang="en-GB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Integrating the </a:t>
            </a:r>
            <a:r>
              <a:rPr lang="en-GB" sz="1000" b="1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SQLAlchemy</a:t>
            </a:r>
            <a:r>
              <a:rPr lang="en-GB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engine for database management and using </a:t>
            </a:r>
            <a:r>
              <a:rPr lang="en-GB" sz="1000" b="1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Pydantic</a:t>
            </a:r>
            <a:r>
              <a:rPr lang="en-GB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for strict data validation.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23254" y="1127760"/>
            <a:ext cx="2560320" cy="1645920"/>
          </a:xfrm>
          <a:prstGeom prst="rect">
            <a:avLst/>
          </a:prstGeom>
          <a:solidFill>
            <a:srgbClr val="0E1628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6134" y="1264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b="1" dirty="0">
              <a:solidFill>
                <a:srgbClr val="10B981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406134" y="15849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b="1" dirty="0">
              <a:solidFill>
                <a:srgbClr val="FFFFFF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cs typeface="Segoe UI" pitchFamily="34" charset="-120"/>
              </a:rPr>
              <a:t>Data management</a:t>
            </a:r>
          </a:p>
        </p:txBody>
      </p:sp>
      <p:sp>
        <p:nvSpPr>
          <p:cNvPr id="16" name="Text 13"/>
          <p:cNvSpPr/>
          <p:nvPr/>
        </p:nvSpPr>
        <p:spPr>
          <a:xfrm>
            <a:off x="6418326" y="1996239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endParaRPr lang="en-GB" sz="1000" dirty="0">
              <a:solidFill>
                <a:srgbClr val="8B96A8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algn="just"/>
            <a:r>
              <a:rPr lang="en-GB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Designing the </a:t>
            </a:r>
            <a:r>
              <a:rPr lang="en-GB" sz="1000" b="1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</a:t>
            </a:r>
            <a:r>
              <a:rPr lang="en-GB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structure and generating interactive documentation via </a:t>
            </a:r>
            <a:r>
              <a:rPr lang="en-GB" sz="1000" b="1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Swagger</a:t>
            </a:r>
            <a:r>
              <a:rPr lang="en-GB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for endpoint testing.</a:t>
            </a:r>
            <a:endParaRPr lang="en-US" sz="1000" dirty="0">
              <a:solidFill>
                <a:srgbClr val="8B96A8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62534" y="3139440"/>
            <a:ext cx="2560320" cy="1645920"/>
          </a:xfrm>
          <a:prstGeom prst="rect">
            <a:avLst/>
          </a:prstGeom>
          <a:solidFill>
            <a:srgbClr val="0E1628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045714" y="37795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</a:rPr>
              <a:t>➔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45414" y="3276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b="1" dirty="0">
              <a:solidFill>
                <a:srgbClr val="6366F1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45414" y="3596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b="1" dirty="0">
              <a:solidFill>
                <a:srgbClr val="FFFFFF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interface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45414" y="39624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endParaRPr lang="en-US" sz="1000" dirty="0">
              <a:solidFill>
                <a:srgbClr val="8B96A8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algn="just"/>
            <a:r>
              <a:rPr lang="en-GB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Building </a:t>
            </a:r>
            <a:r>
              <a:rPr lang="en-GB" sz="1000" b="1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</a:t>
            </a:r>
            <a:r>
              <a:rPr lang="en-GB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components with </a:t>
            </a:r>
            <a:r>
              <a:rPr lang="en-GB" sz="1000" b="1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Tailwind CSS</a:t>
            </a:r>
            <a:r>
              <a:rPr lang="en-GB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integrating the </a:t>
            </a:r>
            <a:r>
              <a:rPr lang="en-GB" sz="1000" b="1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API</a:t>
            </a:r>
            <a:r>
              <a:rPr lang="en-GB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logic.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342894" y="3139440"/>
            <a:ext cx="2560320" cy="1645920"/>
          </a:xfrm>
          <a:prstGeom prst="rect">
            <a:avLst/>
          </a:prstGeom>
          <a:solidFill>
            <a:srgbClr val="0E162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31408" y="37719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</a:rPr>
              <a:t>➔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3525774" y="3276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b="1" dirty="0">
              <a:solidFill>
                <a:srgbClr val="FFFFF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525774" y="3596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b="1" dirty="0">
              <a:solidFill>
                <a:srgbClr val="FFFFFF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 synchronization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3525774" y="39624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endParaRPr lang="en-US" sz="1000" dirty="0">
              <a:solidFill>
                <a:srgbClr val="8B96A8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algn="just"/>
            <a:r>
              <a:rPr lang="en-GB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 code versioning using </a:t>
            </a:r>
            <a:r>
              <a:rPr lang="en-GB" sz="1000" b="1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</a:t>
            </a:r>
            <a:r>
              <a:rPr lang="en-GB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configuring the relational database instance in </a:t>
            </a:r>
            <a:r>
              <a:rPr lang="en-GB" sz="1000" b="1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</a:t>
            </a:r>
            <a:r>
              <a:rPr lang="en-GB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223254" y="3139440"/>
            <a:ext cx="2560320" cy="1645920"/>
          </a:xfrm>
          <a:prstGeom prst="rect">
            <a:avLst/>
          </a:prstGeom>
          <a:solidFill>
            <a:srgbClr val="0E1628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06134" y="3276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b="1" dirty="0">
              <a:solidFill>
                <a:srgbClr val="F59E0B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406134" y="3596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b="1" dirty="0">
              <a:solidFill>
                <a:srgbClr val="FFFFFF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launch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6406134" y="3962400"/>
            <a:ext cx="2343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n-GB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Hosting the frontend application on </a:t>
            </a:r>
            <a:r>
              <a:rPr lang="en-GB" sz="1000" b="1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Hostinger</a:t>
            </a:r>
            <a:r>
              <a:rPr lang="en-GB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deploying the backend service on the </a:t>
            </a:r>
            <a:r>
              <a:rPr lang="en-GB" sz="1000" b="1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Render</a:t>
            </a:r>
            <a:r>
              <a:rPr lang="en-GB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platform.</a:t>
            </a:r>
            <a:endParaRPr lang="en-US" sz="1000" dirty="0"/>
          </a:p>
        </p:txBody>
      </p:sp>
      <p:pic>
        <p:nvPicPr>
          <p:cNvPr id="32" name="Image 2">
            <a:extLst>
              <a:ext uri="{FF2B5EF4-FFF2-40B4-BE49-F238E27FC236}">
                <a16:creationId xmlns:a16="http://schemas.microsoft.com/office/drawing/2014/main" id="{E3B6C81A-DA29-EE96-4060-522DD42A02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333" r="25333"/>
          <a:stretch/>
        </p:blipFill>
        <p:spPr>
          <a:xfrm>
            <a:off x="1914144" y="1211580"/>
            <a:ext cx="571500" cy="53035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pic>
        <p:nvPicPr>
          <p:cNvPr id="33" name="Image 3">
            <a:extLst>
              <a:ext uri="{FF2B5EF4-FFF2-40B4-BE49-F238E27FC236}">
                <a16:creationId xmlns:a16="http://schemas.microsoft.com/office/drawing/2014/main" id="{02F8A32E-CEFF-4100-A2BF-7813295BD2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66622" y="1222558"/>
            <a:ext cx="530352" cy="53746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pic>
        <p:nvPicPr>
          <p:cNvPr id="34" name="Image 6">
            <a:extLst>
              <a:ext uri="{FF2B5EF4-FFF2-40B4-BE49-F238E27FC236}">
                <a16:creationId xmlns:a16="http://schemas.microsoft.com/office/drawing/2014/main" id="{B7EF75AA-A841-85D5-CE82-04929CB7DFC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891279" y="1211580"/>
            <a:ext cx="530352" cy="53035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pic>
        <p:nvPicPr>
          <p:cNvPr id="35" name="Image 2">
            <a:extLst>
              <a:ext uri="{FF2B5EF4-FFF2-40B4-BE49-F238E27FC236}">
                <a16:creationId xmlns:a16="http://schemas.microsoft.com/office/drawing/2014/main" id="{47AC1677-18BA-E0A2-BDB1-DF44A52C5F1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535" r="1535"/>
          <a:stretch/>
        </p:blipFill>
        <p:spPr>
          <a:xfrm>
            <a:off x="6881622" y="1215645"/>
            <a:ext cx="530352" cy="53035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pic>
        <p:nvPicPr>
          <p:cNvPr id="36" name="Image 4">
            <a:extLst>
              <a:ext uri="{FF2B5EF4-FFF2-40B4-BE49-F238E27FC236}">
                <a16:creationId xmlns:a16="http://schemas.microsoft.com/office/drawing/2014/main" id="{8B2D23A7-7B36-281D-0FAF-6FA1CD42EFC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895851" y="3205493"/>
            <a:ext cx="521208" cy="53035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pic>
        <p:nvPicPr>
          <p:cNvPr id="37" name="Image 6">
            <a:extLst>
              <a:ext uri="{FF2B5EF4-FFF2-40B4-BE49-F238E27FC236}">
                <a16:creationId xmlns:a16="http://schemas.microsoft.com/office/drawing/2014/main" id="{2E046956-BF6C-90EB-1DB1-36B2AE3E0BA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168908" y="3215239"/>
            <a:ext cx="530352" cy="53035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pic>
        <p:nvPicPr>
          <p:cNvPr id="38" name="Image 7">
            <a:extLst>
              <a:ext uri="{FF2B5EF4-FFF2-40B4-BE49-F238E27FC236}">
                <a16:creationId xmlns:a16="http://schemas.microsoft.com/office/drawing/2014/main" id="{9B38ED17-2A60-13D2-651F-ACAC4543EC2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934718" y="3199598"/>
            <a:ext cx="530352" cy="545993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pic>
        <p:nvPicPr>
          <p:cNvPr id="39" name="Image 6">
            <a:extLst>
              <a:ext uri="{FF2B5EF4-FFF2-40B4-BE49-F238E27FC236}">
                <a16:creationId xmlns:a16="http://schemas.microsoft.com/office/drawing/2014/main" id="{8E1625A9-48D3-F507-CA8C-02DBB2E499C7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045459" y="3207418"/>
            <a:ext cx="530352" cy="53035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pic>
        <p:nvPicPr>
          <p:cNvPr id="40" name="Image 3">
            <a:extLst>
              <a:ext uri="{FF2B5EF4-FFF2-40B4-BE49-F238E27FC236}">
                <a16:creationId xmlns:a16="http://schemas.microsoft.com/office/drawing/2014/main" id="{065C9701-9649-0B2B-AA42-1CE53D99DDBB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918198" y="3257910"/>
            <a:ext cx="493776" cy="493776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41" name="Image 2">
            <a:extLst>
              <a:ext uri="{FF2B5EF4-FFF2-40B4-BE49-F238E27FC236}">
                <a16:creationId xmlns:a16="http://schemas.microsoft.com/office/drawing/2014/main" id="{49E388BF-3A6E-DCD1-570B-6CE28A844C7F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7777734" y="3257910"/>
            <a:ext cx="493776" cy="508339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pic>
        <p:nvPicPr>
          <p:cNvPr id="42" name="Image 6">
            <a:extLst>
              <a:ext uri="{FF2B5EF4-FFF2-40B4-BE49-F238E27FC236}">
                <a16:creationId xmlns:a16="http://schemas.microsoft.com/office/drawing/2014/main" id="{83849437-EF2E-8967-F329-73C299DBFF46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7741158" y="1219200"/>
            <a:ext cx="530352" cy="53035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pic>
        <p:nvPicPr>
          <p:cNvPr id="43" name="Image 3">
            <a:extLst>
              <a:ext uri="{FF2B5EF4-FFF2-40B4-BE49-F238E27FC236}">
                <a16:creationId xmlns:a16="http://schemas.microsoft.com/office/drawing/2014/main" id="{4E6723D9-576D-9AE7-7B5C-BAC2CA6683A9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661" r="661"/>
          <a:stretch/>
        </p:blipFill>
        <p:spPr>
          <a:xfrm>
            <a:off x="4006597" y="1208025"/>
            <a:ext cx="530352" cy="53746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pic>
        <p:nvPicPr>
          <p:cNvPr id="31" name="Image 0" descr="preencoded.png">
            <a:extLst>
              <a:ext uri="{FF2B5EF4-FFF2-40B4-BE49-F238E27FC236}">
                <a16:creationId xmlns:a16="http://schemas.microsoft.com/office/drawing/2014/main" id="{F98098BF-D236-042A-A97D-C0531C7CDBD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8254" y="138793"/>
            <a:ext cx="8229600" cy="914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ine 3">
            <a:extLst>
              <a:ext uri="{FF2B5EF4-FFF2-40B4-BE49-F238E27FC236}">
                <a16:creationId xmlns:a16="http://schemas.microsoft.com/office/drawing/2014/main" id="{41002AD1-67C7-CFC0-4279-979F8572D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569" y="106680"/>
            <a:ext cx="3354861" cy="1096781"/>
          </a:xfrm>
          <a:prstGeom prst="rect">
            <a:avLst/>
          </a:prstGeom>
        </p:spPr>
      </p:pic>
      <p:sp>
        <p:nvSpPr>
          <p:cNvPr id="7" name="Shape 16">
            <a:extLst>
              <a:ext uri="{FF2B5EF4-FFF2-40B4-BE49-F238E27FC236}">
                <a16:creationId xmlns:a16="http://schemas.microsoft.com/office/drawing/2014/main" id="{EAD13ABF-C891-C86B-7074-0FA17B0C1B9C}"/>
              </a:ext>
            </a:extLst>
          </p:cNvPr>
          <p:cNvSpPr/>
          <p:nvPr/>
        </p:nvSpPr>
        <p:spPr>
          <a:xfrm>
            <a:off x="347471" y="1414248"/>
            <a:ext cx="8449056" cy="384048"/>
          </a:xfrm>
          <a:prstGeom prst="rect">
            <a:avLst/>
          </a:prstGeom>
          <a:solidFill>
            <a:srgbClr val="0E1628"/>
          </a:solidFill>
          <a:ln w="38100">
            <a:solidFill>
              <a:srgbClr val="38BDF8"/>
            </a:solidFill>
            <a:prstDash val="solid"/>
          </a:ln>
        </p:spPr>
      </p:sp>
      <p:sp>
        <p:nvSpPr>
          <p:cNvPr id="9" name="CasetăText 8">
            <a:extLst>
              <a:ext uri="{FF2B5EF4-FFF2-40B4-BE49-F238E27FC236}">
                <a16:creationId xmlns:a16="http://schemas.microsoft.com/office/drawing/2014/main" id="{3A7FA51B-09B4-967F-C1AC-878A9D6A71B7}"/>
              </a:ext>
            </a:extLst>
          </p:cNvPr>
          <p:cNvSpPr txBox="1"/>
          <p:nvPr/>
        </p:nvSpPr>
        <p:spPr>
          <a:xfrm>
            <a:off x="2285998" y="143098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https://fermo.top/The-inventory/</a:t>
            </a:r>
            <a:endParaRPr lang="en-US" sz="1800" b="1" dirty="0"/>
          </a:p>
        </p:txBody>
      </p:sp>
      <p:pic>
        <p:nvPicPr>
          <p:cNvPr id="2" name="Grafic 18">
            <a:extLst>
              <a:ext uri="{FF2B5EF4-FFF2-40B4-BE49-F238E27FC236}">
                <a16:creationId xmlns:a16="http://schemas.microsoft.com/office/drawing/2014/main" id="{C82636AF-A776-4B45-A003-AD4C32B35C9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48" t="5116" r="6613" b="6060"/>
          <a:stretch>
            <a:fillRect/>
          </a:stretch>
        </p:blipFill>
        <p:spPr>
          <a:xfrm>
            <a:off x="3272331" y="2124535"/>
            <a:ext cx="2599334" cy="2616605"/>
          </a:xfrm>
          <a:prstGeom prst="rect">
            <a:avLst/>
          </a:prstGeom>
          <a:ln w="38100">
            <a:solidFill>
              <a:srgbClr val="38BDF8"/>
            </a:solidFill>
          </a:ln>
        </p:spPr>
      </p:pic>
    </p:spTree>
    <p:extLst>
      <p:ext uri="{BB962C8B-B14F-4D97-AF65-F5344CB8AC3E}">
        <p14:creationId xmlns:p14="http://schemas.microsoft.com/office/powerpoint/2010/main" val="1292600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914400"/>
            <a:ext cx="5486400" cy="32004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75844" y="1325880"/>
            <a:ext cx="4059936" cy="1188720"/>
          </a:xfrm>
          <a:prstGeom prst="rect">
            <a:avLst/>
          </a:prstGeom>
          <a:solidFill>
            <a:srgbClr val="0E1628"/>
          </a:solidFill>
          <a:ln w="12700">
            <a:solidFill>
              <a:srgbClr val="1C2A40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5" name="Shape 1"/>
          <p:cNvSpPr/>
          <p:nvPr/>
        </p:nvSpPr>
        <p:spPr>
          <a:xfrm>
            <a:off x="375844" y="1325880"/>
            <a:ext cx="4059936" cy="45719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6" name="Image 2"/>
          <p:cNvPicPr>
            <a:picLocks noChangeAspect="1"/>
          </p:cNvPicPr>
          <p:nvPr/>
        </p:nvPicPr>
        <p:blipFill>
          <a:blip r:embed="rId4"/>
          <a:srcRect t="1133" b="1133"/>
          <a:stretch/>
        </p:blipFill>
        <p:spPr>
          <a:xfrm>
            <a:off x="508307" y="1681939"/>
            <a:ext cx="476601" cy="476601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sp>
        <p:nvSpPr>
          <p:cNvPr id="7" name="Text 2"/>
          <p:cNvSpPr/>
          <p:nvPr/>
        </p:nvSpPr>
        <p:spPr>
          <a:xfrm>
            <a:off x="1119688" y="1508760"/>
            <a:ext cx="3133211" cy="2737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300" b="1" dirty="0">
              <a:solidFill>
                <a:srgbClr val="FFFFFF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Modeling</a:t>
            </a:r>
            <a:endParaRPr lang="en-US" sz="1300" dirty="0"/>
          </a:p>
        </p:txBody>
      </p:sp>
      <p:sp>
        <p:nvSpPr>
          <p:cNvPr id="8" name="Text 3"/>
          <p:cNvSpPr/>
          <p:nvPr/>
        </p:nvSpPr>
        <p:spPr>
          <a:xfrm>
            <a:off x="1119688" y="1874520"/>
            <a:ext cx="3133211" cy="6123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sz="11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r>
              <a:rPr lang="en-GB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relational structure without redundancy - </a:t>
            </a:r>
            <a:r>
              <a:rPr lang="en-GB" sz="11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r>
              <a:rPr lang="en-GB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GB" sz="11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Warehouses</a:t>
            </a:r>
            <a:r>
              <a:rPr lang="en-GB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GB" sz="11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r>
              <a:rPr lang="en-GB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</a:t>
            </a:r>
            <a:r>
              <a:rPr lang="en-GB" sz="11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r>
              <a:rPr lang="en-GB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9" name="Shape 4"/>
          <p:cNvSpPr/>
          <p:nvPr/>
        </p:nvSpPr>
        <p:spPr>
          <a:xfrm>
            <a:off x="4783252" y="1325880"/>
            <a:ext cx="4059936" cy="1188720"/>
          </a:xfrm>
          <a:prstGeom prst="rect">
            <a:avLst/>
          </a:prstGeom>
          <a:solidFill>
            <a:srgbClr val="0E1628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4783252" y="1325880"/>
            <a:ext cx="4059936" cy="45719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1" name="Image 3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963597" y="1704104"/>
            <a:ext cx="476601" cy="47660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527096" y="1508760"/>
            <a:ext cx="3133211" cy="2737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b="1" dirty="0">
              <a:solidFill>
                <a:srgbClr val="FFFFFF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pPr marL="0" indent="0">
              <a:buNone/>
            </a:pPr>
            <a:r>
              <a:rPr lang="en-US" sz="13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FastAPI</a:t>
            </a: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Async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5527096" y="1874520"/>
            <a:ext cx="3133211" cy="6123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</a:t>
            </a:r>
            <a:r>
              <a:rPr lang="en-GB" sz="11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r>
              <a:rPr lang="en-GB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</a:t>
            </a:r>
            <a:r>
              <a:rPr lang="en-GB" sz="1100" b="1" dirty="0" err="1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r>
              <a:rPr lang="en-GB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validation, secure transfer routes, and automated </a:t>
            </a:r>
            <a:r>
              <a:rPr lang="en-GB" sz="1100" b="1" dirty="0" err="1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</a:t>
            </a:r>
            <a:r>
              <a:rPr lang="en-GB" sz="11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GB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documentation.</a:t>
            </a:r>
            <a:endParaRPr lang="en-US" sz="1100" dirty="0"/>
          </a:p>
        </p:txBody>
      </p:sp>
      <p:sp>
        <p:nvSpPr>
          <p:cNvPr id="14" name="Shape 8"/>
          <p:cNvSpPr/>
          <p:nvPr/>
        </p:nvSpPr>
        <p:spPr>
          <a:xfrm>
            <a:off x="375844" y="3017520"/>
            <a:ext cx="4059936" cy="1188720"/>
          </a:xfrm>
          <a:prstGeom prst="rect">
            <a:avLst/>
          </a:prstGeom>
          <a:solidFill>
            <a:srgbClr val="0E1628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375844" y="3017520"/>
            <a:ext cx="4059936" cy="45719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16" name="Image 4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05064" y="3466489"/>
            <a:ext cx="735167" cy="4135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19688" y="3200400"/>
            <a:ext cx="3133211" cy="2737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b="1" dirty="0">
              <a:solidFill>
                <a:srgbClr val="FFFFFF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Cloud DevOps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1119688" y="3566160"/>
            <a:ext cx="3133211" cy="6123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 err="1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r>
              <a:rPr lang="en-US" sz="11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(DB)</a:t>
            </a: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11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(API) </a:t>
            </a: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1100" b="1" dirty="0" err="1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Hostinger</a:t>
            </a:r>
            <a:r>
              <a:rPr lang="en-US" sz="11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1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- complete, live distributed environment.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4783252" y="3017520"/>
            <a:ext cx="4059936" cy="1188720"/>
          </a:xfrm>
          <a:prstGeom prst="rect">
            <a:avLst/>
          </a:prstGeom>
          <a:solidFill>
            <a:srgbClr val="0E1628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4783252" y="3017520"/>
            <a:ext cx="4059936" cy="45719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1" name="Image 5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929832" y="3474166"/>
            <a:ext cx="538715" cy="398179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2" name="Text 14"/>
          <p:cNvSpPr/>
          <p:nvPr/>
        </p:nvSpPr>
        <p:spPr>
          <a:xfrm>
            <a:off x="5527096" y="3200400"/>
            <a:ext cx="3133211" cy="2737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b="1" dirty="0">
              <a:solidFill>
                <a:srgbClr val="FFFFFF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Full-Stack Dev</a:t>
            </a:r>
            <a:endParaRPr lang="en-US" sz="1300" dirty="0"/>
          </a:p>
        </p:txBody>
      </p:sp>
      <p:sp>
        <p:nvSpPr>
          <p:cNvPr id="23" name="Text 15"/>
          <p:cNvSpPr/>
          <p:nvPr/>
        </p:nvSpPr>
        <p:spPr>
          <a:xfrm>
            <a:off x="5527096" y="3566160"/>
            <a:ext cx="3133211" cy="6123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sz="11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r>
              <a:rPr lang="en-GB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hooks, state management, </a:t>
            </a:r>
            <a:r>
              <a:rPr lang="en-GB" sz="11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r>
              <a:rPr lang="en-GB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calls, </a:t>
            </a:r>
            <a:r>
              <a:rPr lang="en-GB" sz="11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r>
              <a:rPr lang="en-GB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end-to-end integration.</a:t>
            </a:r>
            <a:endParaRPr lang="en-US" sz="1100" dirty="0"/>
          </a:p>
        </p:txBody>
      </p:sp>
      <p:sp>
        <p:nvSpPr>
          <p:cNvPr id="25" name="Text 17"/>
          <p:cNvSpPr/>
          <p:nvPr/>
        </p:nvSpPr>
        <p:spPr>
          <a:xfrm>
            <a:off x="347472" y="4553712"/>
            <a:ext cx="84490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b="1" dirty="0"/>
          </a:p>
        </p:txBody>
      </p:sp>
      <p:sp>
        <p:nvSpPr>
          <p:cNvPr id="47" name="CasetăText 46">
            <a:extLst>
              <a:ext uri="{FF2B5EF4-FFF2-40B4-BE49-F238E27FC236}">
                <a16:creationId xmlns:a16="http://schemas.microsoft.com/office/drawing/2014/main" id="{D8A72078-7CDE-AB22-694D-01D35175F1E4}"/>
              </a:ext>
            </a:extLst>
          </p:cNvPr>
          <p:cNvSpPr txBox="1"/>
          <p:nvPr/>
        </p:nvSpPr>
        <p:spPr>
          <a:xfrm>
            <a:off x="470742" y="716162"/>
            <a:ext cx="85222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Acquired skills and objectives achieved in project development:</a:t>
            </a:r>
            <a:endParaRPr lang="en-GB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D0B0EAA7-61EA-AC8A-7297-FD8D24E1BF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-74933"/>
            <a:ext cx="8229600" cy="914400"/>
          </a:xfrm>
          <a:prstGeom prst="rect">
            <a:avLst/>
          </a:prstGeom>
        </p:spPr>
      </p:pic>
      <p:sp>
        <p:nvSpPr>
          <p:cNvPr id="29" name="Shape 16">
            <a:extLst>
              <a:ext uri="{FF2B5EF4-FFF2-40B4-BE49-F238E27FC236}">
                <a16:creationId xmlns:a16="http://schemas.microsoft.com/office/drawing/2014/main" id="{48C4793F-E6AA-F4E8-02C1-136B68793BE3}"/>
              </a:ext>
            </a:extLst>
          </p:cNvPr>
          <p:cNvSpPr/>
          <p:nvPr/>
        </p:nvSpPr>
        <p:spPr>
          <a:xfrm>
            <a:off x="375844" y="4494276"/>
            <a:ext cx="8449056" cy="384048"/>
          </a:xfrm>
          <a:prstGeom prst="rect">
            <a:avLst/>
          </a:prstGeom>
          <a:solidFill>
            <a:srgbClr val="0E1628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30" name="Text 17">
            <a:extLst>
              <a:ext uri="{FF2B5EF4-FFF2-40B4-BE49-F238E27FC236}">
                <a16:creationId xmlns:a16="http://schemas.microsoft.com/office/drawing/2014/main" id="{0D760EAB-3D5A-80F4-FE1C-CA4AAE620F85}"/>
              </a:ext>
            </a:extLst>
          </p:cNvPr>
          <p:cNvSpPr/>
          <p:nvPr/>
        </p:nvSpPr>
        <p:spPr>
          <a:xfrm>
            <a:off x="375844" y="4494276"/>
            <a:ext cx="84490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 for your attention </a:t>
            </a:r>
            <a:r>
              <a:rPr lang="ro-RO" sz="10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000" b="1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</TotalTime>
  <Words>405</Words>
  <Application>Microsoft Office PowerPoint</Application>
  <PresentationFormat>Expunere pe ecran (16:9)</PresentationFormat>
  <Paragraphs>114</Paragraphs>
  <Slides>8</Slides>
  <Notes>6</Notes>
  <HiddenSlides>0</HiddenSlides>
  <MMClips>0</MMClips>
  <ScaleCrop>false</ScaleCrop>
  <HeadingPairs>
    <vt:vector size="6" baseType="variant">
      <vt:variant>
        <vt:lpstr>Fonturi utilizate</vt:lpstr>
      </vt:variant>
      <vt:variant>
        <vt:i4>5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8</vt:i4>
      </vt:variant>
    </vt:vector>
  </HeadingPairs>
  <TitlesOfParts>
    <vt:vector size="14" baseType="lpstr">
      <vt:lpstr>Arial</vt:lpstr>
      <vt:lpstr>Arial Black</vt:lpstr>
      <vt:lpstr>Calibri</vt:lpstr>
      <vt:lpstr>Consolas</vt:lpstr>
      <vt:lpstr>Segoe UI</vt:lpstr>
      <vt:lpstr>Office Theme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Inventory</dc:title>
  <dc:subject>PptxGenJS Presentation</dc:subject>
  <dc:creator>PptxGenJS</dc:creator>
  <cp:lastModifiedBy>Strugariu Filip</cp:lastModifiedBy>
  <cp:revision>13</cp:revision>
  <dcterms:created xsi:type="dcterms:W3CDTF">2026-05-15T08:52:47Z</dcterms:created>
  <dcterms:modified xsi:type="dcterms:W3CDTF">2026-05-31T18:13:04Z</dcterms:modified>
</cp:coreProperties>
</file>